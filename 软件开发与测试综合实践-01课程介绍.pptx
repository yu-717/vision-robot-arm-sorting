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6"/>
  </p:notesMasterIdLst>
  <p:sldIdLst>
    <p:sldId id="256" r:id="rId4"/>
    <p:sldId id="270" r:id="rId5"/>
    <p:sldId id="268" r:id="rId7"/>
    <p:sldId id="259" r:id="rId8"/>
    <p:sldId id="260" r:id="rId9"/>
    <p:sldId id="263" r:id="rId10"/>
    <p:sldId id="293" r:id="rId11"/>
    <p:sldId id="274" r:id="rId12"/>
    <p:sldId id="275" r:id="rId13"/>
    <p:sldId id="277" r:id="rId14"/>
    <p:sldId id="291" r:id="rId15"/>
    <p:sldId id="290" r:id="rId16"/>
    <p:sldId id="281" r:id="rId17"/>
    <p:sldId id="289" r:id="rId18"/>
    <p:sldId id="282" r:id="rId19"/>
    <p:sldId id="28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渗透率</c:v>
                </c:pt>
              </c:strCache>
            </c:strRef>
          </c:tx>
          <c:spPr>
            <a:ln w="19050" cap="flat" cmpd="sng" algn="ctr">
              <a:solidFill>
                <a:srgbClr val="1E4FA8"/>
              </a:solidFill>
              <a:prstDash val="solid"/>
              <a:round/>
            </a:ln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0E3F8C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{"2022","2023","2024","2025","2026"}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{12,29,46,64,77}</c:f>
              <c:numCache>
                <c:formatCode>General</c:formatCode>
                <c:ptCount val="5"/>
                <c:pt idx="0">
                  <c:v>12</c:v>
                </c:pt>
                <c:pt idx="1">
                  <c:v>29</c:v>
                </c:pt>
                <c:pt idx="2">
                  <c:v>46</c:v>
                </c:pt>
                <c:pt idx="3">
                  <c:v>64</c:v>
                </c:pt>
                <c:pt idx="4">
                  <c:v>77</c:v>
                </c:pt>
              </c:numCache>
            </c:numRef>
          </c:val>
          <c:smooth val="1"/>
        </c:ser>
        <c:dLbls>
          <c:showLegendKey val="1"/>
          <c:showVal val="1"/>
          <c:showCatName val="0"/>
          <c:showSerName val="0"/>
          <c:showPercent val="0"/>
          <c:showBubbleSize val="0"/>
        </c:dLbls>
        <c:marker val="1"/>
        <c:smooth val="1"/>
        <c:axId val="89736801"/>
        <c:axId val="89736802"/>
      </c:line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B97A8"/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B97A8"/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fbda765-3340-4b82-82a4-b1be438cb91e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4EF2C8-06EF-4FEA-968F-8BA37245453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582"/>
            <a:ext cx="10515600" cy="8908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6233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36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68.xml"/><Relationship Id="rId2" Type="http://schemas.openxmlformats.org/officeDocument/2006/relationships/tags" Target="../tags/tag50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&gt;&#10;    &lt;Box style={{ width: '100%', height: '100%', position: 'relative', background: '#FFFFFF' }}&gt;&#10;        {/* Top deep blue band */}&#10;        &lt;Box style={{ height: 96, width: '100%', background: '#0E3F8C', flexDirection: 'row', alignItems: 'center', justifyContent: 'space-between', padding: '0 80px' }}&gt;&#10;            &lt;Text style={{ fontSize: 14, color: '#E8EFF8', letterSpacing: 4 }}&gt;软件工程学院 · 2026 秋季学期&lt;/Text&gt;&#10;            &lt;Text style={{ fontSize: 14, color: '#E8EFF8', letterSpacing: 4 }}&gt;COURSE OPENING · DAY 1&lt;/Text&gt;&#10;        &lt;/Box&gt;&#10;&#10;        {/* Left accent block */}&#10;        &lt;Box style={{ position: 'absolute', left: 80, top: 168, width: 6, height: 80, background: '#1E4FA8' }} /&gt;&#10;&#10;        {/* Center content */}&#10;        &lt;Box style={{ position: 'absolute', top: 168, left: 110, right: 80, bottom: 96, flexDirection: 'column', justifyContent: 'center' }}&gt;&#10;            &lt;Text style={{ fontSize: 18, color: '#1E4FA8', letterSpacing: 6, fontWeight: 'bold' }}&gt;SOFTWARE ENGINEERING × EMBEDDED HARDWARE&lt;/Text&gt;&#10;            &lt;Text style={{ fontSize: 16, color: '#8B97A8', marginTop: 6, letterSpacing: 3 }}&gt;2026 · FALL · DAY 1&lt;/Text&gt;&#10;&#10;            &lt;Text style={{ fontSize: 64, color: '#0E3F8C', fontWeight: 'bold', marginTop: 56, lineHeight: 1.15 }}&gt;软件工程 × 智能硬件&lt;/Text&gt;&#10;            &lt;Text style={{ fontSize: 44, color: '#0E3F8C', fontWeight: 'bold', marginTop: 12, lineHeight: 1.15 }}&gt;从机械臂开始&lt;/Text&gt;&#10;&#10;            &lt;Box style={{ width: 80, height: 4, background: '#1E4FA8', marginTop: 40 }} /&gt;&#10;&#10;            &lt;Text style={{ fontSize: 22, color: '#1A2230', marginTop: 28 }}&gt;第一课 · 开题导论&lt;/Text&gt;&#10;            &lt;Text style={{ fontSize: 18, color: '#4A5568', marginTop: 12 }}&gt;在大模型时代，为什么我们要去造一个机器人&lt;/Text&gt;&#10;        &lt;/Box&gt;&#10;&#10;        {/* Bottom info strip */}&#10;        &lt;Box style={{ position: 'absolute', bottom: 0, left: 0, right: 0, height: 64, background: '#F7F9FC', borderTop: '1px solid #D6DCE5', flexDirection: 'row', alignItems: 'center', justifyContent: 'space-between', padding: '0 80px' }}&gt;&#10;            &lt;Text style={{ fontSize: 14, color: '#4A5568' }}&gt;主讲人：__________   ·   软件工程学院&lt;/Text&gt;&#10;            &lt;Text style={{ fontSize: 14, color: '#1E4FA8', fontWeight: 'bold', letterSpacing: 2 }}&gt;2026.09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762000" y="381000"/>
            <a:ext cx="2486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0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软件工程学院</a:t>
            </a:r>
            <a:r>
              <a:rPr lang="en-US" sz="1050" spc="30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2026 </a:t>
            </a:r>
            <a:r>
              <a:rPr lang="zh-CN" sz="1050" spc="30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秋季学期</a:t>
            </a:r>
            <a:endParaRPr lang="zh-CN" sz="1050" spc="30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8886825" y="381000"/>
            <a:ext cx="2543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COURSE OPENING · DAY 1</a:t>
            </a:r>
            <a:endParaRPr lang="en-US" sz="1050" spc="30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047750" y="2867025"/>
            <a:ext cx="10382250" cy="8477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15000"/>
              </a:lnSpc>
            </a:pPr>
            <a:r>
              <a:rPr lang="zh-CN" sz="48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软件开发与测试综合</a:t>
            </a:r>
            <a:r>
              <a:rPr lang="zh-CN" sz="48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实训</a:t>
            </a:r>
            <a:endParaRPr lang="zh-CN" sz="48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3832860" y="4937125"/>
            <a:ext cx="4526280" cy="581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15000"/>
              </a:lnSpc>
            </a:pPr>
            <a:r>
              <a:rPr lang="zh-CN" sz="33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宋原</a:t>
            </a:r>
            <a:endParaRPr lang="zh-CN" sz="33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endParaRPr lang="zh-CN" sz="33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6257925"/>
            <a:ext cx="12192000" cy="6000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5" name="任意多边形 14"/>
          <p:cNvSpPr/>
          <p:nvPr/>
        </p:nvSpPr>
        <p:spPr>
          <a:xfrm>
            <a:off x="0" y="6248400"/>
            <a:ext cx="12192000" cy="609600"/>
          </a:xfrm>
          <a:custGeom>
            <a:avLst/>
            <a:gdLst/>
            <a:ahLst/>
            <a:cxnLst/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0763250" y="647700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  <a:endParaRPr lang="en-US" sz="1050" b="1" spc="1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 294"/>
          <p:cNvSpPr/>
          <p:nvPr/>
        </p:nvSpPr>
        <p:spPr>
          <a:xfrm>
            <a:off x="56515" y="21463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7" name="矩形 6"/>
          <p:cNvSpPr/>
          <p:nvPr/>
        </p:nvSpPr>
        <p:spPr>
          <a:xfrm>
            <a:off x="735110" y="1120373"/>
            <a:ext cx="8808097" cy="64516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lvl="0" indent="-342900" algn="just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联系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方式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552450" y="229412"/>
            <a:ext cx="7886700" cy="8908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关于我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/about me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5037" y="1914584"/>
            <a:ext cx="8655343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邮箱：</a:t>
            </a:r>
            <a:r>
              <a:rPr lang="en-US" altLang="zh-CN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yuansong@</a:t>
            </a:r>
            <a:r>
              <a:rPr lang="en-US" altLang="zh-CN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bjtu.edu.cn</a:t>
            </a:r>
            <a:endParaRPr lang="en-US" altLang="zh-CN" sz="2000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办公地点：逸夫西</a:t>
            </a:r>
            <a:r>
              <a:rPr lang="en-US" altLang="zh-CN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 707</a:t>
            </a:r>
            <a:endParaRPr lang="en-US" altLang="zh-CN" sz="2000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35110" y="3178408"/>
            <a:ext cx="8808097" cy="64516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lvl="0" indent="-342900" algn="just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学习工作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037" y="3943409"/>
            <a:ext cx="8655343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本科：北京邮电</a:t>
            </a:r>
            <a:r>
              <a:rPr lang="zh-CN" altLang="en-US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大学</a:t>
            </a:r>
            <a:endParaRPr lang="zh-CN" altLang="en-US" sz="2000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硕士：哈尔滨工业</a:t>
            </a:r>
            <a:r>
              <a:rPr lang="zh-CN" altLang="en-US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大学</a:t>
            </a:r>
            <a:endParaRPr lang="zh-CN" altLang="en-US" sz="2000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工作：腾讯</a:t>
            </a:r>
            <a:r>
              <a:rPr lang="en-US" altLang="zh-CN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altLang="en-US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高级算法工程师</a:t>
            </a:r>
            <a:endParaRPr lang="zh-CN" altLang="en-US" sz="2000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              </a:t>
            </a:r>
            <a:r>
              <a:rPr lang="zh-CN" altLang="en-US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2014-2022</a:t>
            </a:r>
            <a:r>
              <a:rPr lang="zh-CN" altLang="en-US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485" y="2798445"/>
            <a:ext cx="2446020" cy="32619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505" y="3943350"/>
            <a:ext cx="1975485" cy="2634615"/>
          </a:xfrm>
          <a:prstGeom prst="rect">
            <a:avLst/>
          </a:prstGeom>
        </p:spPr>
      </p:pic>
    </p:spTree>
  </p:cSld>
  <p:clrMapOvr>
    <a:masterClrMapping/>
  </p:clrMapOvr>
  <p:transition spd="med" advTm="18621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&gt;&#10;    &lt;Box style={{ width: '100%', height: '100%', position: 'relative', background: '#FFFFFF' }}&gt;&#10;        {/* Top deep blue band */}&#10;        &lt;Box style={{ height: 96, width: '100%', background: '#0E3F8C', flexDirection: 'row', alignItems: 'center', justifyContent: 'space-between', padding: '0 80px' }}&gt;&#10;            &lt;Text style={{ fontSize: 14, color: '#E8EFF8', letterSpacing: 4 }}&gt;软件工程学院 · 2026 秋季学期&lt;/Text&gt;&#10;            &lt;Text style={{ fontSize: 14, color: '#E8EFF8', letterSpacing: 4 }}&gt;COURSE OPENING · DAY 1&lt;/Text&gt;&#10;        &lt;/Box&gt;&#10;&#10;        {/* Left accent block */}&#10;        &lt;Box style={{ position: 'absolute', left: 80, top: 168, width: 6, height: 80, background: '#1E4FA8' }} /&gt;&#10;&#10;        {/* Center content */}&#10;        &lt;Box style={{ position: 'absolute', top: 168, left: 110, right: 80, bottom: 96, flexDirection: 'column', justifyContent: 'center' }}&gt;&#10;            &lt;Text style={{ fontSize: 18, color: '#1E4FA8', letterSpacing: 6, fontWeight: 'bold' }}&gt;SOFTWARE ENGINEERING × EMBEDDED HARDWARE&lt;/Text&gt;&#10;            &lt;Text style={{ fontSize: 16, color: '#8B97A8', marginTop: 6, letterSpacing: 3 }}&gt;2026 · FALL · DAY 1&lt;/Text&gt;&#10;&#10;            &lt;Text style={{ fontSize: 64, color: '#0E3F8C', fontWeight: 'bold', marginTop: 56, lineHeight: 1.15 }}&gt;软件工程 × 智能硬件&lt;/Text&gt;&#10;            &lt;Text style={{ fontSize: 44, color: '#0E3F8C', fontWeight: 'bold', marginTop: 12, lineHeight: 1.15 }}&gt;从机械臂开始&lt;/Text&gt;&#10;&#10;            &lt;Box style={{ width: 80, height: 4, background: '#1E4FA8', marginTop: 40 }} /&gt;&#10;&#10;            &lt;Text style={{ fontSize: 22, color: '#1A2230', marginTop: 28 }}&gt;第一课 · 开题导论&lt;/Text&gt;&#10;            &lt;Text style={{ fontSize: 18, color: '#4A5568', marginTop: 12 }}&gt;在大模型时代，为什么我们要去造一个机器人&lt;/Text&gt;&#10;        &lt;/Box&gt;&#10;&#10;        {/* Bottom info strip */}&#10;        &lt;Box style={{ position: 'absolute', bottom: 0, left: 0, right: 0, height: 64, background: '#F7F9FC', borderTop: '1px solid #D6DCE5', flexDirection: 'row', alignItems: 'center', justifyContent: 'space-between', padding: '0 80px' }}&gt;&#10;            &lt;Text style={{ fontSize: 14, color: '#4A5568' }}&gt;主讲人：__________   ·   软件工程学院&lt;/Text&gt;&#10;            &lt;Text style={{ fontSize: 14, color: '#1E4FA8', fontWeight: 'bold', letterSpacing: 2 }}&gt;2026.09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26415" y="99695"/>
            <a:ext cx="3898900" cy="71501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课程简介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8886825" y="381000"/>
            <a:ext cx="2543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COURSE OPENING · DAY 1</a:t>
            </a:r>
            <a:endParaRPr lang="en-US" sz="1050" spc="30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62000" y="1823085"/>
            <a:ext cx="10382250" cy="847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8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48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48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智能硬件</a:t>
            </a:r>
            <a:endParaRPr lang="zh-CN" sz="48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762000" y="3245485"/>
            <a:ext cx="10382250" cy="581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33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从机械臂开始</a:t>
            </a:r>
            <a:endParaRPr lang="zh-CN" sz="33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47750" y="4791075"/>
            <a:ext cx="762000" cy="381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1047750" y="5095875"/>
            <a:ext cx="10382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第一课</a:t>
            </a:r>
            <a:r>
              <a:rPr lang="en-US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开题导论</a:t>
            </a:r>
            <a:endParaRPr lang="zh-CN" sz="16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47750" y="5467350"/>
            <a:ext cx="10382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在大模型时代，为什么我们要去造一个机器人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6257925"/>
            <a:ext cx="12192000" cy="6000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5" name="任意多边形 14"/>
          <p:cNvSpPr/>
          <p:nvPr/>
        </p:nvSpPr>
        <p:spPr>
          <a:xfrm>
            <a:off x="0" y="6248400"/>
            <a:ext cx="12192000" cy="609600"/>
          </a:xfrm>
          <a:custGeom>
            <a:avLst/>
            <a:gdLst/>
            <a:ahLst/>
            <a:cxnLst/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0763250" y="647700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  <a:endParaRPr lang="en-US" sz="1050" b="1" spc="1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 descr="&lt;Slide padding={0}&gt;&#10;    &lt;Box style={{ width: '100%', height: '100%', position: 'relative', background: '#FFFFFF' }}&gt;&#10;        {/* Top thin bar */}&#10;        &lt;Box style={{ height: 56, width: '100%', background: '#0E3F8C', flexDirection: 'row', alignItems: 'center', justifyContent: 'space-between', padding: '0 80px' }}&gt;&#10;            &lt;Text style={{ fontSize: 13, color: '#E8EFF8', letterSpacing: 3 }}&gt;CHAPTER&lt;/Text&gt;&#10;            &lt;Text style={{ fontSize: 13, color: '#E8EFF8', letterSpacing: 3 }}&gt;第一课 · 开题导论&lt;/Text&gt;&#10;        &lt;/Box&gt;&#10;&#10;        {/* Massive number 01 on left */}&#10;        &lt;Box style={{ position: 'absolute', top: 100, left: 80, flexDirection: 'row', alignItems: 'flex-start' }}&gt;&#10;            &lt;Text style={{ fontSize: 240, color: '#0E3F8C', fontWeight: 'bold', lineHeight: 1 }}&gt;01&lt;/Text&gt;&#10;        &lt;/Box&gt;&#10;&#10;        {/* Vertical accent line */}&#10;        &lt;Box style={{ position: 'absolute', top: 220, left: 480, width: 2, height: 360, background: '#1E4FA8', opacity: 0.3 }} /&gt;&#10;&#10;        {/* Chapter title and bullets */}&#10;        &lt;Box style={{ position: 'absolute', top: 220, left: 520, right: 80, flexDirection: 'column' }}&gt;&#10;            &lt;Text style={{ fontSize: 14, color: '#1E4FA8', letterSpacing: 4, fontWeight: 'bold' }}&gt;CHAPTER ONE&lt;/Text&gt;&#10;            &lt;Text style={{ fontSize: 40, color: '#0E3F8C', fontWeight: 'bold', marginTop: 16, lineHeight: 1.2 }}&gt;大模型时代的&lt;/Text&gt;&#10;            &lt;Text style={{ fontSize: 40, color: '#0E3F8C', fontWeight: 'bold', marginTop: 4, lineHeight: 1.2 }}&gt;&quot;软件危机&quot;&lt;/Text&gt;&#10;            &lt;Box style={{ width: 64, height: 3, background: '#1E4FA8', marginTop: 28 }} /&gt;&#10;&#10;            &lt;Box style={{ marginTop: 36, gap: 14, flexDirection: 'column' }}&gt;&#10;                &lt;Box style={{ flexDirection: 'row', alignItems: 'flex-start', gap: 12 }}&gt;&#10;                    &lt;Box style={{ width: 8, height: 8, background: '#1E4FA8', marginTop: 8, borderRadius: 1 }} /&gt;&#10;                    &lt;Text style={{ fontSize: 18, color: '#1A2230', lineHeight: 1.6 }}&gt;代码的&quot;制造方式&quot;正在被 AI 重构&lt;/Text&gt;&#10;                &lt;/Box&gt;&#10;                &lt;Box style={{ flexDirection: 'row', alignItems: 'flex-start', gap: 12 }}&gt;&#10;                    &lt;Box style={{ width: 8, height: 8, background: '#1E4FA8', marginTop: 8, borderRadius: 1 }} /&gt;&#10;                    &lt;Text style={{ fontSize: 18, color: '#1A2230', lineHeight: 1.6 }}&gt;初级岗位的招聘曲线，已经掉头&lt;/Text&gt;&#10;                &lt;/Box&gt;&#10;                &lt;Box style={{ flexDirection: 'row', alignItems: 'flex-start', gap: 12 }}&gt;&#10;                    &lt;Box style={{ width: 8, height: 8, background: '#1E4FA8', marginTop: 8, borderRadius: 1 }} /&gt;&#10;                    &lt;Text style={{ fontSize: 18, color: '#1A2230', lineHeight: 1.6 }}&gt;信任 AI 输出的人，反而越来越少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 1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1" name="矩形 170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762000" y="190500"/>
            <a:ext cx="762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CHAPTER</a:t>
            </a:r>
            <a:endParaRPr lang="en-US" sz="975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10172700" y="19050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第一课</a:t>
            </a:r>
            <a:r>
              <a:rPr lang="en-US" sz="975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开题导论</a:t>
            </a:r>
            <a:endParaRPr lang="zh-CN" sz="975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762000" y="952500"/>
            <a:ext cx="2828925" cy="2743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8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4572000" y="2095500"/>
            <a:ext cx="19050" cy="3429000"/>
          </a:xfrm>
          <a:prstGeom prst="rect">
            <a:avLst/>
          </a:prstGeom>
          <a:solidFill>
            <a:srgbClr val="1E4FA8">
              <a:alpha val="30000"/>
            </a:srgbClr>
          </a:solidFill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4953000" y="2095500"/>
            <a:ext cx="6477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CHAPTER ONE</a:t>
            </a:r>
            <a:endParaRPr lang="en-US" sz="105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4953000" y="2409825"/>
            <a:ext cx="64770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大模型时代的</a:t>
            </a:r>
            <a:endParaRPr lang="zh-CN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4953000" y="3000375"/>
            <a:ext cx="64770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软件危机</a:t>
            </a:r>
            <a:r>
              <a:rPr lang="en-US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4953000" y="3819525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80" name="圆角矩形 179"/>
          <p:cNvSpPr/>
          <p:nvPr/>
        </p:nvSpPr>
        <p:spPr>
          <a:xfrm>
            <a:off x="4953000" y="4267200"/>
            <a:ext cx="76200" cy="762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5143500" y="4191000"/>
            <a:ext cx="24860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代码的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制造方式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正在被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重构</a:t>
            </a:r>
            <a:endParaRPr lang="zh-CN" sz="13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4953000" y="4733925"/>
            <a:ext cx="76200" cy="762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5143500" y="4657725"/>
            <a:ext cx="24003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初级岗位的招聘曲线，已经掉头</a:t>
            </a:r>
            <a:endParaRPr lang="zh-CN" sz="13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4953000" y="5200650"/>
            <a:ext cx="76200" cy="762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5143500" y="5124450"/>
            <a:ext cx="25050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信任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输出的人，反而越来越少</a:t>
            </a:r>
            <a:endParaRPr lang="zh-CN" sz="13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" descr="&lt;Slide padding={0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软件工程 × 智能硬件 · 第一课&lt;/Text&gt;&#10;            &lt;Text style={{ fontSize: 14, color: '#E8EFF8', letterSpacing: 2 }}&gt;01 / 05&lt;/Text&gt;&#10;        &lt;/Box&gt;&#10;&#10;        {/* Content area */}&#10;        &lt;Box style={{ position: 'absolute', top: 96, left: 60, right: 60, bottom: 56, flexDirection: 'column' }}&gt;&#10;            {/* L0 guide question bar */}&#10;            &lt;Box style={{ flexDirection: 'row', alignItems: 'center', background: '#F0F5FC', padding: '10px 18px', borderRadius: 4, borderLeft: '4px solid #1E4FA8' }}&gt;&#10;                &lt;Text style={{ fontSize: 15, color: '#1E4FA8', fontWeight: 'bold' }}&gt;我们正在经历什么？&lt;/Text&gt;&#10;                &lt;Text style={{ fontSize: 14, color: '#4A5568', marginLeft: 12 }}&gt;—— 一组来自 2025–2026 的公开数据&lt;/Text&gt;&#10;            &lt;/Box&gt;&#10;&#10;            {/* Page title */}&#10;            &lt;Text style={{ fontSize: 32, color: '#0E3F8C', fontWeight: 'bold', marginTop: 20 }}&gt;77% 的代码，已经由 AI 生成&lt;/Text&gt;&#10;&#10;            {/* KPI row */}&#10;            &lt;Box style={{ flexDirection: 'row', gap: 12, marginTop: 20 }}&gt;&#10;                &lt;Box style={{ flex: 1, height: 120, background: '#E8EFF8', borderRadius: 6, padding: 16, flexDirection: 'column', justifyContent: 'space-between' }}&gt;&#10;                    &lt;Text style={{ fontSize: 12, color: '#1E4FA8', letterSpacing: 2, fontWeight: 'bold' }}&gt;AI 编码助手渗透率&lt;/Text&gt;&#10;                    &lt;Box&gt;&#10;                        &lt;Text style={{ fontSize: 44, color: '#0E3F8C', fontWeight: 'bold' }}&gt;77%&lt;/Text&gt;&#10;                        &lt;Text style={{ fontSize: 12, color: '#4A5568', marginTop: 2 }}&gt;GitHub Copilot · 2026&lt;/Text&gt;&#10;                    &lt;/Box&gt;&#10;                &lt;/Box&gt;&#10;                &lt;Box style={{ flex: 1, height: 120, background: '#FFF6E5', borderRadius: 6, padding: 16, flexDirection: 'column', justifyContent: 'space-between' }}&gt;&#10;                    &lt;Text style={{ fontSize: 12, color: '#A56700', letterSpacing: 2, fontWeight: 'bold' }}&gt;初级岗位招聘&lt;/Text&gt;&#10;                    &lt;Box&gt;&#10;                        &lt;Text style={{ fontSize: 44, color: '#854F0B', fontWeight: 'bold' }}&gt;↓ 35%&lt;/Text&gt;&#10;                        &lt;Text style={{ fontSize: 12, color: '#4A5568', marginTop: 2 }}&gt;较 2023 年下降&lt;/Text&gt;&#10;                    &lt;/Box&gt;&#10;                &lt;/Box&gt;&#10;                &lt;Box style={{ flex: 1, height: 120, background: '#E8EFF8', borderRadius: 6, padding: 16, flexDirection: 'column', justifyContent: 'space-between' }}&gt;&#10;                    &lt;Text style={{ fontSize: 12, color: '#1E4FA8', letterSpacing: 2, fontWeight: 'bold' }}&gt;AI 工程师岗位&lt;/Text&gt;&#10;                    &lt;Box&gt;&#10;                        &lt;Text style={{ fontSize: 44, color: '#0E3F8C', fontWeight: 'bold' }}&gt;↑ 300%&lt;/Text&gt;&#10;                        &lt;Text style={{ fontSize: 12, color: '#4A5568', marginTop: 2 }}&gt;同期增长&lt;/Text&gt;&#10;                    &lt;/Box&gt;&#10;                &lt;/Box&gt;&#10;                &lt;Box style={{ flex: 1, height: 120, background: '#FFEDED', borderRadius: 6, padding: 16, flexDirection: 'column', justifyContent: 'space-between' }}&gt;&#10;                    &lt;Text style={{ fontSize: 12, color: '#A32D2D', letterSpacing: 2, fontWeight: 'bold' }}&gt;开发者对 AI 的信任度&lt;/Text&gt;&#10;                    &lt;Box&gt;&#10;                        &lt;Text style={{ fontSize: 44, color: '#791F1F', fontWeight: 'bold' }}&gt;29%&lt;/Text&gt;&#10;                        &lt;Text style={{ fontSize: 12, color: '#4A5568', marginTop: 2 }}&gt;较 2024 年 -11pp&lt;/Text&gt;&#10;                    &lt;/Box&gt;&#10;                &lt;/Box&gt;&#10;            &lt;/Box&gt;&#10;&#10;            {/* Chart area */}&#10;            &lt;Box style={{ marginTop: 16, flex: 1, flexDirection: 'row', background: '#FFFFFF', border: '1px solid #D6DCE5', borderRadius: 6, padding: 16 }}&gt;&#10;                &lt;Box style={{ flex: 1.4, flexDirection: 'column', justifyContent: 'flex-end' }}&gt;&#10;                    &lt;Text style={{ fontSize: 14, color: '#1E4FA8', fontWeight: 'bold' }}&gt;Copilot 五年渗透曲线&lt;/Text&gt;&#10;                    &lt;Text style={{ fontSize: 12, color: '#4A5568', marginTop: 8, lineHeight: 1.6 }}&gt;2022 年还是&quot;尝鲜&quot;，到 2026 年已成为默认开发环境。&lt;/Text&gt;&#10;                    &lt;Text style={{ fontSize: 12, color: '#4A5568', marginTop: 4, lineHeight: 1.6 }}&gt;换句话说：&lt;/Text&gt;&#10;                    &lt;Text style={{ fontSize: 13, color: '#0E3F8C', fontWeight: 'bold', marginTop: 8, lineHeight: 1.5 }}&gt;&quot;代码怎么写&quot;&lt;/Text&gt;&#10;                    &lt;Text style={{ fontSize: 13, color: '#0E3F8C', fontWeight: 'bold', lineHeight: 1.5 }}&gt;这件事已经被重写。&lt;/Text&gt;&#10;                &lt;/Box&gt;&#10;                &lt;Box style={{ flex: 2, marginLeft: 16 }}&gt;&#10;                    &lt;Chart&#10;                        style={{ width: '100%', height: '100%' }}&#10;                        chartType='lineChart'&#10;                        showLegend={false}&#10;                        showDataLabels={true}&#10;                        colors={['#1E4FA8']}&#10;                        axisColor='#8B97A8'&#10;                        legendColor='#8B97A8'&#10;                        dataLabelColor='#0E3F8C'&#10;                        data={[&#10;                            ['年份', '渗透率'],&#10;                            ['2022', 12],&#10;                            ['2023', 29],&#10;                            ['2024', 46],&#10;                            ['2025', 64],&#10;                            ['2026', 77],&#10;                        ]}&#10;                    /&gt;&#10;                &lt;/Box&gt;&#10;            &lt;/Box&gt;&#10;&#10;            {/* Source */}&#10;            &lt;Text style={{ fontSize: 11, color: '#8B97A8', marginTop: 8 }}&gt;来源：Stack Overflow 2025、JetBrains 2026、Microsoft FY2026 Q2 财报、Harvard 62M 工人研究&lt;/Text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&lt;/Text&gt;&#10;            &lt;Text style={{ fontSize: 12, color: '#1E4FA8', fontWeight: 'bold' }}&gt;04 / 10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矩形 1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8" name="矩形 187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571500" y="266700"/>
            <a:ext cx="2247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智能硬件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11029950" y="266700"/>
            <a:ext cx="590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en-US" sz="1050" spc="15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609600" y="914400"/>
            <a:ext cx="11049000" cy="361950"/>
          </a:xfrm>
          <a:prstGeom prst="roundRect">
            <a:avLst>
              <a:gd name="adj" fmla="val 10526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92" name="任意多边形 191"/>
          <p:cNvSpPr/>
          <p:nvPr/>
        </p:nvSpPr>
        <p:spPr>
          <a:xfrm>
            <a:off x="609600" y="914400"/>
            <a:ext cx="11049000" cy="361950"/>
          </a:xfrm>
          <a:custGeom>
            <a:avLst/>
            <a:gdLst/>
            <a:ahLst/>
            <a:cxnLst/>
            <a:pathLst>
              <a:path w="1160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781050" y="100965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我们正在经历什么？</a:t>
            </a:r>
            <a:endParaRPr lang="zh-CN" sz="14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2570480" y="1038225"/>
            <a:ext cx="2305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——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一组来自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2025–2026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的公开数据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571500" y="1466850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77%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的代码，已经由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圆角矩形 195"/>
          <p:cNvSpPr/>
          <p:nvPr>
            <p:custDataLst>
              <p:tags r:id="rId2"/>
            </p:custDataLst>
          </p:nvPr>
        </p:nvSpPr>
        <p:spPr>
          <a:xfrm>
            <a:off x="571500" y="2028825"/>
            <a:ext cx="2676525" cy="1143000"/>
          </a:xfrm>
          <a:prstGeom prst="roundRect">
            <a:avLst>
              <a:gd name="adj" fmla="val 5000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97" name="文本框 196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723900" y="2181225"/>
            <a:ext cx="2371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编码助手渗透率</a:t>
            </a:r>
            <a:endParaRPr lang="zh-CN" sz="900" b="1" spc="1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723900" y="2352675"/>
            <a:ext cx="23717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77%</a:t>
            </a:r>
            <a:endParaRPr lang="en-US" sz="33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723900" y="2876550"/>
            <a:ext cx="2371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GitHub Copilot · 2026</a:t>
            </a:r>
            <a:endParaRPr lang="en-US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>
            <p:custDataLst>
              <p:tags r:id="rId6"/>
            </p:custDataLst>
          </p:nvPr>
        </p:nvSpPr>
        <p:spPr>
          <a:xfrm>
            <a:off x="3362325" y="2028825"/>
            <a:ext cx="2676525" cy="1143000"/>
          </a:xfrm>
          <a:prstGeom prst="roundRect">
            <a:avLst>
              <a:gd name="adj" fmla="val 5000"/>
            </a:avLst>
          </a:prstGeom>
          <a:solidFill>
            <a:srgbClr val="FFF6E5"/>
          </a:solidFill>
        </p:spPr>
        <p:txBody>
          <a:bodyPr/>
          <a:p/>
        </p:txBody>
      </p:sp>
      <p:sp>
        <p:nvSpPr>
          <p:cNvPr id="201" name="文本框 200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3514725" y="2181225"/>
            <a:ext cx="2371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A56700"/>
                </a:solidFill>
                <a:latin typeface="微软雅黑" panose="020B0503020204020204" charset="-122"/>
                <a:ea typeface="微软雅黑" panose="020B0503020204020204" charset="-122"/>
              </a:rPr>
              <a:t>初级岗位招聘</a:t>
            </a:r>
            <a:endParaRPr lang="zh-CN" sz="900" b="1" spc="150">
              <a:solidFill>
                <a:srgbClr val="A567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3514725" y="2352675"/>
            <a:ext cx="23717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854F0B"/>
                </a:solidFill>
                <a:latin typeface="微软雅黑" panose="020B0503020204020204" charset="-122"/>
                <a:ea typeface="微软雅黑" panose="020B0503020204020204" charset="-122"/>
              </a:rPr>
              <a:t>↓ 35%</a:t>
            </a:r>
            <a:endParaRPr lang="en-US" sz="3300" b="1">
              <a:solidFill>
                <a:srgbClr val="854F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3514725" y="2876550"/>
            <a:ext cx="2371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较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2023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年下降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圆角矩形 203"/>
          <p:cNvSpPr/>
          <p:nvPr>
            <p:custDataLst>
              <p:tags r:id="rId10"/>
            </p:custDataLst>
          </p:nvPr>
        </p:nvSpPr>
        <p:spPr>
          <a:xfrm>
            <a:off x="6153150" y="2028825"/>
            <a:ext cx="2676525" cy="1143000"/>
          </a:xfrm>
          <a:prstGeom prst="roundRect">
            <a:avLst>
              <a:gd name="adj" fmla="val 5000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205" name="文本框 204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6305550" y="2181225"/>
            <a:ext cx="2371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工程师岗位</a:t>
            </a:r>
            <a:endParaRPr lang="zh-CN" sz="900" b="1" spc="1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6305550" y="2352675"/>
            <a:ext cx="23717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↑ 300%</a:t>
            </a:r>
            <a:endParaRPr lang="en-US" sz="33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>
            <p:custDataLst>
              <p:tags r:id="rId13"/>
            </p:custDataLst>
          </p:nvPr>
        </p:nvSpPr>
        <p:spPr>
          <a:xfrm>
            <a:off x="6305550" y="2876550"/>
            <a:ext cx="2371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同期增长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圆角矩形 207"/>
          <p:cNvSpPr/>
          <p:nvPr>
            <p:custDataLst>
              <p:tags r:id="rId14"/>
            </p:custDataLst>
          </p:nvPr>
        </p:nvSpPr>
        <p:spPr>
          <a:xfrm>
            <a:off x="8943975" y="2028825"/>
            <a:ext cx="2676525" cy="1143000"/>
          </a:xfrm>
          <a:prstGeom prst="roundRect">
            <a:avLst>
              <a:gd name="adj" fmla="val 5000"/>
            </a:avLst>
          </a:prstGeom>
          <a:solidFill>
            <a:srgbClr val="FFEDED"/>
          </a:solidFill>
        </p:spPr>
        <p:txBody>
          <a:bodyPr/>
          <a:p/>
        </p:txBody>
      </p:sp>
      <p:sp>
        <p:nvSpPr>
          <p:cNvPr id="209" name="文本框 208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9096375" y="2181225"/>
            <a:ext cx="2371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开发者对</a:t>
            </a:r>
            <a:r>
              <a:rPr lang="en-US" sz="900" b="1" spc="150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900" b="1" spc="150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的信任度</a:t>
            </a:r>
            <a:endParaRPr lang="zh-CN" sz="900" b="1" spc="150">
              <a:solidFill>
                <a:srgbClr val="A3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9096375" y="2352675"/>
            <a:ext cx="23717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791F1F"/>
                </a:solidFill>
                <a:latin typeface="微软雅黑" panose="020B0503020204020204" charset="-122"/>
                <a:ea typeface="微软雅黑" panose="020B0503020204020204" charset="-122"/>
              </a:rPr>
              <a:t>29%</a:t>
            </a:r>
            <a:endParaRPr lang="en-US" sz="3300" b="1">
              <a:solidFill>
                <a:srgbClr val="791F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9096375" y="2876550"/>
            <a:ext cx="2371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较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2024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-11pp</a:t>
            </a:r>
            <a:endParaRPr lang="en-US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圆角矩形 211"/>
          <p:cNvSpPr/>
          <p:nvPr/>
        </p:nvSpPr>
        <p:spPr>
          <a:xfrm>
            <a:off x="571500" y="3324225"/>
            <a:ext cx="11049000" cy="2790825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723900" y="4695825"/>
            <a:ext cx="4362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Copilot </a:t>
            </a:r>
            <a:r>
              <a:rPr lang="zh-CN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五年渗透曲线</a:t>
            </a:r>
            <a:endParaRPr lang="zh-CN"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723900" y="4933950"/>
            <a:ext cx="43624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2022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年还是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尝鲜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，到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2026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年已成为默认开发环境。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723900" y="5200650"/>
            <a:ext cx="43624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换句话说：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723900" y="5505450"/>
            <a:ext cx="43624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代码怎么写</a:t>
            </a:r>
            <a:r>
              <a:rPr lang="en-US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723900" y="5734050"/>
            <a:ext cx="43624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这件事已经被重写。</a:t>
            </a:r>
            <a:endParaRPr lang="zh-CN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8" name="218"/>
          <p:cNvGraphicFramePr/>
          <p:nvPr/>
        </p:nvGraphicFramePr>
        <p:xfrm>
          <a:off x="5238750" y="3476625"/>
          <a:ext cx="6229350" cy="2486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571500" y="6191250"/>
            <a:ext cx="110490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Stack Overflow 2025</a:t>
            </a: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JetBrains 2026</a:t>
            </a: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Microsoft FY2026 Q2 </a:t>
            </a: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财报、</a:t>
            </a: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Harvard 62M </a:t>
            </a: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工人研究</a:t>
            </a:r>
            <a:endParaRPr lang="zh-CN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21" name="任意多边形 220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" descr="&lt;Slide padding={0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软件工程 × 智能硬件 · 第一课&lt;/Text&gt;&#10;            &lt;Text style={{ fontSize: 14, color: '#E8EFF8', letterSpacing: 2 }}&gt;03 / 05&lt;/Text&gt;&#10;        &lt;/Box&gt;&#10;&#10;        {/* Content */}&#10;        &lt;Box style={{ position: 'absolute', top: 96, left: 60, right: 60, bottom: 56, flexDirection: 'column' }}&gt;&#10;            &lt;Text style={{ fontSize: 14, color: '#1E4FA8', letterSpacing: 3, fontWeight: 'bold' }}&gt;THE SAFE ISLAND&lt;/Text&gt;&#10;            &lt;Text style={{ fontSize: 32, color: '#0E3F8C', fontWeight: 'bold', marginTop: 10 }}&gt;AI 时代的&quot;安全岛&quot;：四个不可替代&lt;/Text&gt;&#10;            &lt;Box style={{ width: 64, height: 3, background: '#1E4FA8', marginTop: 16 }} /&gt;&#10;&#10;            {/* 2x2 grid */}&#10;            &lt;Box style={{ flex: 1, flexDirection: 'column', marginTop: 24, gap: 14 }}&gt;&#10;                {/* Row 1 */}&#10;                &lt;Box style={{ flex: 1, flexDirection: 'row', gap: 14 }}&gt;&#10;                    &lt;Box style={{ flex: 1, background: '#F7F9FC', border: '1px solid #D6DCE5', borderRadius: 6, padding: 20, flexDirection: 'row', gap: 14 }}&gt;&#10;                        &lt;Box style={{ width: 56, height: 56, background: '#0E3F8C', borderRadius: 4, flexDirection: 'row', alignItems: 'center', justifyContent: 'center' }}&gt;&#10;                            &lt;Text style={{ fontSize: 24, color: '#FFFFFF', fontWeight: 'bold' }}&gt;1&lt;/Text&gt;&#10;                        &lt;/Box&gt;&#10;                        &lt;Box style={{ flex: 1 }}&gt;&#10;                            &lt;Text style={{ fontSize: 18, color: '#0E3F8C', fontWeight: 'bold' }}&gt;物理世界接口&lt;/Text&gt;&#10;                            &lt;Text style={{ fontSize: 12, color: '#4A5568', marginTop: 6, lineHeight: 1.6 }}&gt;传感器噪声、机械精度、回差抖动、手眼标定……&lt;/Text&gt;&#10;                            &lt;Text style={{ fontSize: 12, color: '#1E4FA8', marginTop: 4, lineHeight: 1.6 }}&gt;AI 没有&quot;手感&quot;，只能写代码，不能摸到关节。&lt;/Text&gt;&#10;                        &lt;/Box&gt;&#10;                    &lt;/Box&gt;&#10;                    &lt;Box style={{ flex: 1, background: '#F7F9FC', border: '1px solid #D6DCE5', borderRadius: 6, padding: 20, flexDirection: 'row', gap: 14 }}&gt;&#10;                        &lt;Box style={{ width: 56, height: 56, background: '#0E3F8C', borderRadius: 4, flexDirection: 'row', alignItems: 'center', justifyContent: 'center' }}&gt;&#10;                            &lt;Text style={{ fontSize: 24, color: '#FFFFFF', fontWeight: 'bold' }}&gt;2&lt;/Text&gt;&#10;                        &lt;/Box&gt;&#10;                        &lt;Box style={{ flex: 1 }}&gt;&#10;                            &lt;Text style={{ fontSize: 18, color: '#0E3F8C', fontWeight: 'bold' }}&gt;系统级集成&lt;/Text&gt;&#10;                            &lt;Text style={{ fontSize: 12, color: '#4A5568', marginTop: 6, lineHeight: 1.6 }}&gt;视觉 + 控制 + 硬件 + UI 同时在线，跨模块一致性问题……&lt;/Text&gt;&#10;                            &lt;Text style={{ fontSize: 12, color: '#1E4FA8', marginTop: 4, lineHeight: 1.6 }}&gt;AI 写得了零件，扛不起一个会动的系统。&lt;/Text&gt;&#10;                        &lt;/Box&gt;&#10;                    &lt;/Box&gt;&#10;                &lt;/Box&gt;&#10;                {/* Row 2 */}&#10;                &lt;Box style={{ flex: 1, flexDirection: 'row', gap: 14 }}&gt;&#10;                    &lt;Box style={{ flex: 1, background: '#F7F9FC', border: '1px solid #D6DCE5', borderRadius: 6, padding: 20, flexDirection: 'row', gap: 14 }}&gt;&#10;                        &lt;Box style={{ width: 56, height: 56, background: '#0E3F8C', borderRadius: 4, flexDirection: 'row', alignItems: 'center', justifyContent: 'center' }}&gt;&#10;                            &lt;Text style={{ fontSize: 24, color: '#FFFFFF', fontWeight: 'bold' }}&gt;3&lt;/Text&gt;&#10;                        &lt;/Box&gt;&#10;                        &lt;Box style={{ flex: 1 }}&gt;&#10;                            &lt;Text style={{ fontSize: 18, color: '#0E3F8C', fontWeight: 'bold' }}&gt;工程闭环&lt;/Text&gt;&#10;                            &lt;Text style={{ fontSize: 12, color: '#4A5568', marginTop: 6, lineHeight: 1.6 }}&gt;从示教 → 仿真 → 真机 → 失败 → 重写 → 再跑通……&lt;/Text&gt;&#10;                            &lt;Text style={{ fontSize: 12, color: '#1E4FA8', marginTop: 4, lineHeight: 1.6 }}&gt;现实世界的失败模式无限，AI 不会替你盯现场。&lt;/Text&gt;&#10;                        &lt;/Box&gt;&#10;                    &lt;/Box&gt;&#10;                    &lt;Box style={{ flex: 1, background: '#F7F9FC', border: '1px solid #D6DCE5', borderRadius: 6, padding: 20, flexDirection: 'row', gap: 14 }}&gt;&#10;                        &lt;Box style={{ width: 56, height: 56, background: '#0E3F8C', borderRadius: 4, flexDirection: 'row', alignItems: 'center', justifyContent: 'center' }}&gt;&#10;                            &lt;Text style={{ fontSize: 24, color: '#FFFFFF', fontWeight: 'bold' }}&gt;4&lt;/Text&gt;&#10;                        &lt;/Box&gt;&#10;                        &lt;Box style={{ flex: 1 }}&gt;&#10;                            &lt;Text style={{ fontSize: 18, color: '#0E3F8C', fontWeight: 'bold' }}&gt;责任边界&lt;/Text&gt;&#10;                            &lt;Text style={{ fontSize: 12, color: '#4A5568', marginTop: 6, lineHeight: 1.6 }}&gt;夹具夹坏一个零件、抓歪一袋药、安全合规……&lt;/Text&gt;&#10;                            &lt;Text style={{ fontSize: 12, color: '#1E4FA8', marginTop: 4, lineHeight: 1.6 }}&gt;出错有代价，所以必须有&quot;能负责的人&quot;。&lt;/Text&gt;&#10;                        &lt;/Box&gt;&#10;                    &lt;/Box&gt;&#10;                &lt;/Box&gt;&#10;            &lt;/Box&gt;&#10;&#10;            {/* Bottom highlight */}&#10;            &lt;Box style={{ marginTop: 12, padding: '12px 18px', background: '#F0F5FC', borderLeft: '4px solid #1E4FA8', borderRadius: 4 }}&gt;&#10;                &lt;Text style={{ fontSize: 14, color: '#1E4FA8', fontWeight: 'bold' }}&gt;一句话：&lt;/Text&gt;&#10;                &lt;Text style={{ fontSize: 14, color: '#1A2230', marginLeft: 8 }}&gt;AI 正在吃掉&quot;只写代码&quot;的活——但它吃不动一个会看、会动、会出错、得有人负责的机器人系统。&lt;/Text&gt;&#10;            &lt;/Box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&lt;/Text&gt;&#10;            &lt;Text style={{ fontSize: 12, color: '#1E4FA8', fontWeight: 'bold' }}&gt;07 / 10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矩形 293"/>
          <p:cNvSpPr/>
          <p:nvPr/>
        </p:nvSpPr>
        <p:spPr>
          <a:xfrm>
            <a:off x="0" y="1016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5" name="矩形 294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571500" y="266700"/>
            <a:ext cx="2247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智能硬件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第一课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571500" y="9144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THE SAFE ISLAND</a:t>
            </a:r>
            <a:endParaRPr lang="en-US" sz="1050" b="1" spc="2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571500" y="11715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时代的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安全岛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三个难以替代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矩形 299"/>
          <p:cNvSpPr/>
          <p:nvPr/>
        </p:nvSpPr>
        <p:spPr>
          <a:xfrm>
            <a:off x="571500" y="1695450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01" name="圆角矩形 300"/>
          <p:cNvSpPr/>
          <p:nvPr/>
        </p:nvSpPr>
        <p:spPr>
          <a:xfrm>
            <a:off x="571500" y="1952625"/>
            <a:ext cx="5457825" cy="1790700"/>
          </a:xfrm>
          <a:prstGeom prst="roundRect">
            <a:avLst>
              <a:gd name="adj" fmla="val 31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2" name="圆角矩形 301"/>
          <p:cNvSpPr/>
          <p:nvPr/>
        </p:nvSpPr>
        <p:spPr>
          <a:xfrm>
            <a:off x="76200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962025" y="2276475"/>
            <a:ext cx="142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428750" y="2143125"/>
            <a:ext cx="4410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物理世界接口</a:t>
            </a:r>
            <a:endParaRPr lang="zh-CN" sz="1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1428750" y="2409825"/>
            <a:ext cx="44100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传感器噪声、机械精度、回差抖动、手眼标定……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1369695" y="3000375"/>
            <a:ext cx="4410075" cy="2286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60000"/>
              </a:lnSpc>
            </a:pPr>
            <a:r>
              <a:rPr lang="en-US" altLang="zh-CN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能写出标定代码，但"手感"目前仍来自真实世界的反复调试。</a:t>
            </a:r>
            <a:endParaRPr lang="zh-CN" altLang="en-US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lang="zh-CN" altLang="en-US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圆角矩形 306"/>
          <p:cNvSpPr/>
          <p:nvPr/>
        </p:nvSpPr>
        <p:spPr>
          <a:xfrm>
            <a:off x="6162675" y="1952625"/>
            <a:ext cx="5457825" cy="1790700"/>
          </a:xfrm>
          <a:prstGeom prst="roundRect">
            <a:avLst>
              <a:gd name="adj" fmla="val 31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8" name="圆角矩形 307"/>
          <p:cNvSpPr/>
          <p:nvPr/>
        </p:nvSpPr>
        <p:spPr>
          <a:xfrm>
            <a:off x="6353175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6553200" y="2276475"/>
            <a:ext cx="142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7019925" y="2143125"/>
            <a:ext cx="4410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系统级集成</a:t>
            </a:r>
            <a:endParaRPr lang="zh-CN" sz="1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7019925" y="2409825"/>
            <a:ext cx="44100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视觉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控制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硬件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UI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同时在线，跨模块一致性问题……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7019925" y="2676525"/>
            <a:ext cx="4410075" cy="2286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60000"/>
              </a:lnSpc>
            </a:pPr>
            <a:r>
              <a:rPr lang="en-US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能生成单个模块，但让系统整体稳定运行，仍需要工程师的权衡与调试。</a:t>
            </a:r>
            <a:endParaRPr lang="zh-CN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圆角矩形 312"/>
          <p:cNvSpPr/>
          <p:nvPr/>
        </p:nvSpPr>
        <p:spPr>
          <a:xfrm>
            <a:off x="571500" y="3876675"/>
            <a:ext cx="5457825" cy="1781175"/>
          </a:xfrm>
          <a:prstGeom prst="roundRect">
            <a:avLst>
              <a:gd name="adj" fmla="val 32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4" name="圆角矩形 313"/>
          <p:cNvSpPr/>
          <p:nvPr/>
        </p:nvSpPr>
        <p:spPr>
          <a:xfrm>
            <a:off x="762000" y="406717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962025" y="4200525"/>
            <a:ext cx="142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1428750" y="4067175"/>
            <a:ext cx="4410075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责任边界</a:t>
            </a:r>
            <a:endParaRPr lang="zh-CN" sz="1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1428750" y="4333875"/>
            <a:ext cx="4410075" cy="2286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60000"/>
              </a:lnSpc>
            </a:pP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夹具夹坏一个零件、抓歪一袋药、安全合规……</a:t>
            </a:r>
            <a:endParaRPr lang="zh-CN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1487805" y="4808855"/>
            <a:ext cx="4425315" cy="4318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60000"/>
              </a:lnSpc>
            </a:pPr>
            <a:r>
              <a:rPr lang="zh-CN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出错有代价，最终拍板与担责的仍然是人</a:t>
            </a:r>
            <a:r>
              <a:rPr lang="zh-CN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6200775" y="3924300"/>
            <a:ext cx="5457825" cy="1781175"/>
          </a:xfrm>
          <a:prstGeom prst="roundRect">
            <a:avLst>
              <a:gd name="adj" fmla="val 32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6553200" y="4200525"/>
            <a:ext cx="142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7019925" y="4067175"/>
            <a:ext cx="4410075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一个诚实的补充</a:t>
            </a:r>
            <a:endParaRPr lang="zh-CN" sz="1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7019925" y="4333875"/>
            <a:ext cx="4410075" cy="2286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60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具身智能正在快速发展，上述边界会随时间移动。</a:t>
            </a:r>
            <a:endParaRPr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60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但让软件在真实硬件上可靠运行的工程方法、</a:t>
            </a:r>
            <a:endParaRPr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60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以及为结果负责的工程素养，无论边界怎么移动，</a:t>
            </a:r>
            <a:endParaRPr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60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都是工程师的立身之本。</a:t>
            </a:r>
            <a:endParaRPr lang="zh-CN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圆角矩形 324"/>
          <p:cNvSpPr/>
          <p:nvPr/>
        </p:nvSpPr>
        <p:spPr>
          <a:xfrm>
            <a:off x="609600" y="5772150"/>
            <a:ext cx="11049000" cy="552450"/>
          </a:xfrm>
          <a:prstGeom prst="roundRect">
            <a:avLst>
              <a:gd name="adj" fmla="val 6897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26" name="任意多边形 325"/>
          <p:cNvSpPr/>
          <p:nvPr/>
        </p:nvSpPr>
        <p:spPr>
          <a:xfrm>
            <a:off x="609600" y="5772150"/>
            <a:ext cx="11049000" cy="552450"/>
          </a:xfrm>
          <a:custGeom>
            <a:avLst/>
            <a:gdLst/>
            <a:ahLst/>
            <a:cxnLst/>
            <a:pathLst>
              <a:path w="1160" h="58">
                <a:moveTo>
                  <a:pt x="4" y="58"/>
                </a:moveTo>
                <a:cubicBezTo>
                  <a:pt x="2" y="58"/>
                  <a:pt x="0" y="56"/>
                  <a:pt x="0" y="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8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781050" y="5886450"/>
            <a:ext cx="10668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一句话：</a:t>
            </a:r>
            <a:endParaRPr lang="zh-CN"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857250" y="6048375"/>
            <a:ext cx="10591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正在吃掉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只写代码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的活——但它吃不动一个会看、会动、会出错、得有人负责的机器人系统。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矩形 328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571500" y="6610350"/>
            <a:ext cx="7334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软硬融合开题课</a:t>
            </a:r>
            <a:endParaRPr lang="zh-CN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 descr="&lt;Slide padding={0} notes={`先说一个大家可能担心的事：这门课涉及机械臂，很多同学没碰过硬件，会不会跟不上？不会。我们这学期从零开始，把每个术语拆开讲。&#10;&#10;你要练出的，是四样东西：一是计算机视觉，让机器看懂垃圾；二是机械臂控制，让它动起来；三是系统集成，把各个模块串成一条流水线；四是工程实践，学会用 Git 协作、写测试、做文档。&#10;&#10;学完这些，你简历上能踏实地写一句：我独立完成过一套视觉驱动的机械臂分拣系统。`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软件工程 × 智能硬件 · 第一课&lt;/Text&gt;&#10;            &lt;Text style={{ fontSize: 14, color: '#E8EFF8', letterSpacing: 2 }}&gt;02 / 11&lt;/Text&gt;&#10;        &lt;/Box&gt;&#10;&#10;        {/* Content */}&#10;        &lt;Box style={{ position: 'absolute', top: 96, left: 60, right: 60, bottom: 56, flexDirection: 'column' }}&gt;&#10;            &lt;Text style={{ fontSize: 32, color: '#0E3F8C', fontWeight: 'bold' }}&gt;这门课，你将练出 4 样东西&lt;/Text&gt;&#10;            &lt;Box style={{ width: 64, height: 3, background: '#1E4FA8', marginTop: 14 }} /&gt;&#10;&#10;            {/* Zero-based note */}&#10;            &lt;Box style={{ flexDirection: 'row', alignItems: 'center', background: '#F0F5FC', padding: '10px 18px', borderRadius: 4, borderLeft: '4px solid #1E4FA8', marginTop: 16 }}&gt;&#10;                &lt;Text style={{ fontSize: 14, color: '#1E4FA8', fontWeight: 'bold' }}&gt;零基础？没问题。&lt;/Text&gt;&#10;                &lt;Text style={{ fontSize: 14, color: '#4A5568', marginLeft: 10 }}&gt;没碰过机械臂、ROS、YOLO？这些术语会在一学期里逐个拆给你看，今天先认识它们。&lt;/Text&gt;&#10;            &lt;/Box&gt;&#10;&#10;            {/* 4 ability cards */}&#10;            &lt;Box style={{ flex: 1, flexDirection: 'row', gap: 14, marginTop: 18 }}&gt;&#10;                &lt;Box style={{ flex: 1, background: '#F7F9FC', border: '1px solid #D6DCE5', borderRadius: 6, padding: 18, flexDirection: 'column' }}&gt;&#10;                    &lt;Box style={{ width: 48, height: 48, background: '#0E3F8C', borderRadius: 4, flexDirection: 'row', alignItems: 'center', justifyContent: 'center' }}&gt;&#10;                        &lt;Text style={{ fontSize: 22, color: '#FFFFFF', fontWeight: 'bold' }}&gt;01&lt;/Text&gt;&#10;                    &lt;/Box&gt;&#10;                    &lt;Text style={{ fontSize: 18, color: '#0E3F8C', fontWeight: 'bold', marginTop: 12 }}&gt;计算机视觉&lt;/Text&gt;&#10;                    &lt;Text style={{ fontSize: 13, color: '#4A5568', marginTop: 8, lineHeight: 1.6 }}&gt;让机器&quot;看懂&quot;垃圾：摄像头 + YOLO 识别 + 颜色定位&lt;/Text&gt;&#10;                &lt;/Box&gt;&#10;                &lt;Box style={{ flex: 1, background: '#F7F9FC', border: '1px solid #D6DCE5', borderRadius: 6, padding: 18, flexDirection: 'column' }}&gt;&#10;                    &lt;Box style={{ width: 48, height: 48, background: '#0E3F8C', borderRadius: 4, flexDirection: 'row', alignItems: 'center', justifyContent: 'center' }}&gt;&#10;                        &lt;Text style={{ fontSize: 22, color: '#FFFFFF', fontWeight: 'bold' }}&gt;02&lt;/Text&gt;&#10;                    &lt;/Box&gt;&#10;                    &lt;Text style={{ fontSize: 18, color: '#0E3F8C', fontWeight: 'bold', marginTop: 12 }}&gt;机械臂控制&lt;/Text&gt;&#10;                    &lt;Text style={{ fontSize: 13, color: '#4A5568', marginTop: 8, lineHeight: 1.6 }}&gt;让机械臂&quot;动起来&quot;：昇腾机械臂 + ROS2 + 逆运动学&lt;/Text&gt;&#10;                &lt;/Box&gt;&#10;                &lt;Box style={{ flex: 1, background: '#F7F9FC', border: '1px solid #D6DCE5', borderRadius: 6, padding: 18, flexDirection: 'column' }}&gt;&#10;                    &lt;Box style={{ width: 48, height: 48, background: '#0E3F8C', borderRadius: 4, flexDirection: 'row', alignItems: 'center', justifyContent: 'center' }}&gt;&#10;                        &lt;Text style={{ fontSize: 22, color: '#FFFFFF', fontWeight: 'bold' }}&gt;03&lt;/Text&gt;&#10;                    &lt;/Box&gt;&#10;                    &lt;Text style={{ fontSize: 18, color: '#0E3F8C', fontWeight: 'bold', marginTop: 12 }}&gt;系统集成&lt;/Text&gt;&#10;                    &lt;Text style={{ fontSize: 13, color: '#4A5568', marginTop: 8, lineHeight: 1.6 }}&gt;把视觉 + 控制 + 看板&quot;串成一条流水线&quot;&lt;/Text&gt;&#10;                &lt;/Box&gt;&#10;                &lt;Box style={{ flex: 1, background: '#F7F9FC', border: '1px solid #D6DCE5', borderRadius: 6, padding: 18, flexDirection: 'column' }}&gt;&#10;                    &lt;Box style={{ width: 48, height: 48, background: '#0E3F8C', borderRadius: 4, flexDirection: 'row', alignItems: 'center', justifyContent: 'center' }}&gt;&#10;                        &lt;Text style={{ fontSize: 22, color: '#FFFFFF', fontWeight: 'bold' }}&gt;04&lt;/Text&gt;&#10;                    &lt;/Box&gt;&#10;                    &lt;Text style={{ fontSize: 18, color: '#0E3F8C', fontWeight: 'bold', marginTop: 12 }}&gt;工程实践&lt;/Text&gt;&#10;                    &lt;Text style={{ fontSize: 13, color: '#4A5568', marginTop: 8, lineHeight: 1.6 }}&gt;Git 协作 + 测试 + 文档 + 答辩，完整工程闭环&lt;/Text&gt;&#10;                &lt;/Box&gt;&#10;            &lt;/Box&gt;&#10;&#10;            {/* Resume sentence */}&#10;            &lt;Box style={{ marginTop: 14, padding: '14px 18px', background: '#F0F5FC', borderLeft: '4px solid #1E4FA8', borderRadius: 4, flexDirection: 'row', alignItems: 'center' }}&gt;&#10;                &lt;Text style={{ fontSize: 15, color: '#1E4FA8', fontWeight: 'bold' }}&gt;学完你简历上能写：&lt;/Text&gt;&#10;                &lt;Text style={{ fontSize: 15, color: '#1A2230', marginLeft: 10 }}&gt;&quot;独立完成视觉驱动的机械臂分拣系统（YOLO + ROS2 + Web 看板）&quot;&lt;/Text&gt;&#10;            &lt;/Box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&lt;/Text&gt;&#10;            &lt;Text style={{ fontSize: 12, color: '#1E4FA8', fontWeight: 'bold' }}&gt;02 / 11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0" name="矩形 79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571500" y="266700"/>
            <a:ext cx="2247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智能硬件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571500" y="914400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这门课，你将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获得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571500" y="1419225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85" name="圆角矩形 84"/>
          <p:cNvSpPr/>
          <p:nvPr/>
        </p:nvSpPr>
        <p:spPr>
          <a:xfrm>
            <a:off x="609600" y="1600200"/>
            <a:ext cx="11049000" cy="352425"/>
          </a:xfrm>
          <a:prstGeom prst="roundRect">
            <a:avLst>
              <a:gd name="adj" fmla="val 10811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86" name="任意多边形 85"/>
          <p:cNvSpPr/>
          <p:nvPr/>
        </p:nvSpPr>
        <p:spPr>
          <a:xfrm>
            <a:off x="609600" y="1600200"/>
            <a:ext cx="11049000" cy="352425"/>
          </a:xfrm>
          <a:custGeom>
            <a:avLst/>
            <a:gdLst/>
            <a:ahLst/>
            <a:cxnLst/>
            <a:pathLst>
              <a:path w="1160" h="37">
                <a:moveTo>
                  <a:pt x="4" y="37"/>
                </a:moveTo>
                <a:cubicBezTo>
                  <a:pt x="2" y="37"/>
                  <a:pt x="0" y="35"/>
                  <a:pt x="0" y="3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7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781050" y="169545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零基础？没问题</a:t>
            </a:r>
            <a:r>
              <a:rPr lang="zh-CN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2397760" y="1709420"/>
            <a:ext cx="51720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没碰过机械臂、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ROS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YOLO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？这些术语会在一学期里逐一拆解学习，今天先认识它们。</a:t>
            </a:r>
            <a:endParaRPr lang="zh-CN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>
            <p:custDataLst>
              <p:tags r:id="rId1"/>
            </p:custDataLst>
          </p:nvPr>
        </p:nvSpPr>
        <p:spPr>
          <a:xfrm>
            <a:off x="571500" y="2124075"/>
            <a:ext cx="2667000" cy="3629025"/>
          </a:xfrm>
          <a:prstGeom prst="roundRect">
            <a:avLst>
              <a:gd name="adj" fmla="val 214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0" name="圆角矩形 89"/>
          <p:cNvSpPr/>
          <p:nvPr>
            <p:custDataLst>
              <p:tags r:id="rId2"/>
            </p:custDataLst>
          </p:nvPr>
        </p:nvSpPr>
        <p:spPr>
          <a:xfrm>
            <a:off x="742950" y="22955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91" name="文本框 90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838200" y="2400300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742950" y="2867025"/>
            <a:ext cx="2324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计算机视觉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742950" y="3152775"/>
            <a:ext cx="2324100" cy="47625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60000"/>
              </a:lnSpc>
            </a:pP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让机器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看懂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垃圾：摄像头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YOLO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颜色定位</a:t>
            </a:r>
            <a:endParaRPr lang="zh-CN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圆角矩形 93"/>
          <p:cNvSpPr/>
          <p:nvPr>
            <p:custDataLst>
              <p:tags r:id="rId6"/>
            </p:custDataLst>
          </p:nvPr>
        </p:nvSpPr>
        <p:spPr>
          <a:xfrm>
            <a:off x="3371850" y="2124075"/>
            <a:ext cx="2657475" cy="3629025"/>
          </a:xfrm>
          <a:prstGeom prst="roundRect">
            <a:avLst>
              <a:gd name="adj" fmla="val 215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5" name="圆角矩形 94"/>
          <p:cNvSpPr/>
          <p:nvPr>
            <p:custDataLst>
              <p:tags r:id="rId7"/>
            </p:custDataLst>
          </p:nvPr>
        </p:nvSpPr>
        <p:spPr>
          <a:xfrm>
            <a:off x="3543300" y="22955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96" name="文本框 95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3638550" y="2400300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3543300" y="2867025"/>
            <a:ext cx="23145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机械臂控制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3543300" y="3152775"/>
            <a:ext cx="2314575" cy="47625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60000"/>
              </a:lnSpc>
            </a:pP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让机械臂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动起来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：昇腾机械臂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ROS2 +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逆运动学</a:t>
            </a:r>
            <a:endParaRPr lang="zh-CN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圆角矩形 98"/>
          <p:cNvSpPr/>
          <p:nvPr>
            <p:custDataLst>
              <p:tags r:id="rId11"/>
            </p:custDataLst>
          </p:nvPr>
        </p:nvSpPr>
        <p:spPr>
          <a:xfrm>
            <a:off x="6162675" y="2124075"/>
            <a:ext cx="2667000" cy="3629025"/>
          </a:xfrm>
          <a:prstGeom prst="roundRect">
            <a:avLst>
              <a:gd name="adj" fmla="val 214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0" name="圆角矩形 99"/>
          <p:cNvSpPr/>
          <p:nvPr>
            <p:custDataLst>
              <p:tags r:id="rId12"/>
            </p:custDataLst>
          </p:nvPr>
        </p:nvSpPr>
        <p:spPr>
          <a:xfrm>
            <a:off x="6334125" y="22955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101" name="文本框 100" descr="{&quot;isTemplate&quot;:true,&quot;type&quot;:&quot;text&quot;}"/>
          <p:cNvSpPr txBox="1"/>
          <p:nvPr>
            <p:custDataLst>
              <p:tags r:id="rId13"/>
            </p:custDataLst>
          </p:nvPr>
        </p:nvSpPr>
        <p:spPr>
          <a:xfrm>
            <a:off x="6429375" y="2400300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6334125" y="2867025"/>
            <a:ext cx="2324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系统集成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6334125" y="3152775"/>
            <a:ext cx="2392045" cy="8451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把视觉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控制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看板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串成</a:t>
            </a:r>
            <a:endParaRPr lang="zh-CN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一条流水线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圆角矩形 103"/>
          <p:cNvSpPr/>
          <p:nvPr>
            <p:custDataLst>
              <p:tags r:id="rId16"/>
            </p:custDataLst>
          </p:nvPr>
        </p:nvSpPr>
        <p:spPr>
          <a:xfrm>
            <a:off x="8963025" y="2124075"/>
            <a:ext cx="2657475" cy="3629025"/>
          </a:xfrm>
          <a:prstGeom prst="roundRect">
            <a:avLst>
              <a:gd name="adj" fmla="val 215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5" name="圆角矩形 104"/>
          <p:cNvSpPr/>
          <p:nvPr>
            <p:custDataLst>
              <p:tags r:id="rId17"/>
            </p:custDataLst>
          </p:nvPr>
        </p:nvSpPr>
        <p:spPr>
          <a:xfrm>
            <a:off x="9134475" y="22955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9229725" y="2400300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9134475" y="2867025"/>
            <a:ext cx="23145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工程实践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>
            <p:custDataLst>
              <p:tags r:id="rId20"/>
            </p:custDataLst>
          </p:nvPr>
        </p:nvSpPr>
        <p:spPr>
          <a:xfrm>
            <a:off x="9134475" y="3152775"/>
            <a:ext cx="2314575" cy="47625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60000"/>
              </a:lnSpc>
            </a:pP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Git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协作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答辩，完整工程闭环</a:t>
            </a:r>
            <a:endParaRPr lang="zh-CN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609600" y="5886450"/>
            <a:ext cx="11049000" cy="438150"/>
          </a:xfrm>
          <a:prstGeom prst="roundRect">
            <a:avLst>
              <a:gd name="adj" fmla="val 8696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10" name="任意多边形 109"/>
          <p:cNvSpPr/>
          <p:nvPr/>
        </p:nvSpPr>
        <p:spPr>
          <a:xfrm>
            <a:off x="609600" y="5886450"/>
            <a:ext cx="11049000" cy="438150"/>
          </a:xfrm>
          <a:custGeom>
            <a:avLst/>
            <a:gdLst/>
            <a:ahLst/>
            <a:cxnLst/>
            <a:pathLst>
              <a:path w="1160" h="46">
                <a:moveTo>
                  <a:pt x="4" y="46"/>
                </a:moveTo>
                <a:cubicBezTo>
                  <a:pt x="2" y="46"/>
                  <a:pt x="0" y="44"/>
                  <a:pt x="0" y="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6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781050" y="60198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学完你简历上能写：</a:t>
            </a:r>
            <a:endParaRPr lang="zh-CN" sz="14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2525395" y="6029325"/>
            <a:ext cx="4486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4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独立完成视觉驱动的机械臂分拣系统（</a:t>
            </a:r>
            <a:r>
              <a:rPr lang="en-US" sz="14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YOLO + ROS2 + Web </a:t>
            </a:r>
            <a:r>
              <a:rPr lang="zh-CN" sz="14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看板）</a:t>
            </a:r>
            <a:r>
              <a:rPr lang="en-US" sz="14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4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14" name="任意多边形 113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571500" y="6610350"/>
            <a:ext cx="7334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软硬融合开题课</a:t>
            </a:r>
            <a:endParaRPr lang="zh-CN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" descr="&lt;Slide padding={0} notes={`那我们就来看看这学期要造的东西。简单说，就是一台会看、会抓、会记账的机械臂。&#10;&#10;它先用摄像头认出桌上的垃圾——这是可回收物、这是厨余、这是有害垃圾；然后算出该往哪抓、每个关节转多少度，稳稳抓起来放到正确的位置；最后，每一次抓取都变成一条数据记到网页看板上，你随时能看到今天分拣了多少件、各是什么类别。&#10;&#10;看、抓、记，三步串成一个物理世界和数字世界打通的闭环。`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软件工程 × 智能硬件 · 第一课&lt;/Text&gt;&#10;            &lt;Text style={{ fontSize: 14, color: '#E8EFF8', letterSpacing: 2 }}&gt;05 / 11&lt;/Text&gt;&#10;        &lt;/Box&gt;&#10;&#10;        {/* Content */}&#10;        &lt;Box style={{ position: 'absolute', top: 96, left: 60, right: 60, bottom: 56, flexDirection: 'column' }}&gt;&#10;            &lt;Text style={{ fontSize: 14, color: '#1E4FA8', letterSpacing: 3, fontWeight: 'bold' }}&gt;THE PROJECT&lt;/Text&gt;&#10;            &lt;Text style={{ fontSize: 32, color: '#0E3F8C', fontWeight: 'bold', marginTop: 10 }}&gt;这学期，我们要造什么？&lt;/Text&gt;&#10;            &lt;Box style={{ width: 64, height: 3, background: '#1E4FA8', marginTop: 16 }} /&gt;&#10;&#10;            {/* One sentence positioning */}&#10;            &lt;Box style={{ marginTop: 18, padding: '16px 20px', background: '#F0F5FC', borderLeft: '4px solid #1E4FA8', borderRadius: 4 }}&gt;&#10;                &lt;Text style={{ fontSize: 15, color: '#1E4FA8', fontWeight: 'bold' }}&gt;一句话定位&lt;/Text&gt;&#10;                &lt;Text style={{ fontSize: 18, color: '#0E3F8C', fontWeight: 'bold', marginTop: 8, lineHeight: 1.5 }}&gt;一台&quot;会看、会抓、会记账&quot;的智能机械臂——&lt;/Text&gt;&#10;                &lt;Text style={{ fontSize: 18, color: '#0E3F8C', fontWeight: 'bold', lineHeight: 1.5 }}&gt;自动识别垃圾、抓取到正确位置，并把每一笔&quot;入库&quot;记录到管理看板。&lt;/Text&gt;&#10;            &lt;/Box&gt;&#10;&#10;            {/* Project name bar */}&#10;            &lt;Box style={{ marginTop: 14, padding: '14px 20px', background: '#0E3F8C', borderRadius: 4, flexDirection: 'row', alignItems: 'center' }}&gt;&#10;                &lt;Text style={{ fontSize: 13, color: '#E8EFF8', letterSpacing: 2 }}&gt;项目全称&lt;/Text&gt;&#10;                &lt;Text style={{ fontSize: 18, color: '#FFFFFF', fontWeight: 'bold', marginLeft: 16 }}&gt;基于计算机视觉的智能机械臂垃圾分拣与管理系统&lt;/Text&gt;&#10;            &lt;/Box&gt;&#10;&#10;            {/* Three application scenarios */}&#10;            &lt;Box style={{ flex: 1, flexDirection: 'row', gap: 14, marginTop: 16 }}&gt;&#10;                &lt;Box style={{ flex: 1, background: '#F7F9FC', border: '1px solid #D6DCE5', borderRadius: 6, padding: 18, flexDirection: 'column' }}&gt;&#10;                    &lt;Text style={{ fontSize: 12, color: '#1E4FA8', letterSpacing: 2, fontWeight: 'bold' }}&gt;场景 1 · 看&lt;/Text&gt;&#10;                    &lt;Text style={{ fontSize: 16, color: '#0E3F8C', fontWeight: 'bold', marginTop: 8 }}&gt;摄像头识别垃圾&lt;/Text&gt;&#10;                    &lt;Text style={{ fontSize: 13, color: '#4A5568', marginTop: 6, lineHeight: 1.6 }}&gt;YOLO 模型认出&quot;这是可回收物 / 厨余 / 有害 / 其他&quot;，并给出它在桌上的位置&lt;/Text&gt;&#10;                &lt;/Box&gt;&#10;                &lt;Box style={{ flex: 1, background: '#F7F9FC', border: '1px solid #D6DCE5', borderRadius: 6, padding: 18, flexDirection: 'column' }}&gt;&#10;                    &lt;Text style={{ fontSize: 12, color: '#1E4FA8', letterSpacing: 2, fontWeight: 'bold' }}&gt;场景 2 · 抓&lt;/Text&gt;&#10;                    &lt;Text style={{ fontSize: 16, color: '#0E3F8C', fontWeight: 'bold', marginTop: 8 }}&gt;机械臂精准分拣&lt;/Text&gt;&#10;                    &lt;Text style={{ fontSize: 13, color: '#4A5568', marginTop: 6, lineHeight: 1.6 }}&gt;昇腾机械臂收到&quot;目标位置&quot;，自己算出每个关节该转多少度，稳稳抓起来放好&lt;/Text&gt;&#10;                &lt;/Box&gt;&#10;                &lt;Box style={{ flex: 1, background: '#F7F9FC', border: '1px solid #D6DCE5', borderRadius: 6, padding: 18, flexDirection: 'column' }}&gt;&#10;                    &lt;Text style={{ fontSize: 12, color: '#1E4FA8', letterSpacing: 2, fontWeight: 'bold' }}&gt;场景 3 · 记&lt;/Text&gt;&#10;                    &lt;Text style={{ fontSize: 16, color: '#0E3F8C', fontWeight: 'bold', marginTop: 8 }}&gt;管理看板记账&lt;/Text&gt;&#10;                    &lt;Text style={{ fontSize: 13, color: '#4A5568', marginTop: 6, lineHeight: 1.6 }}&gt;每一次抓取都变成一条数据，网页上实时看得到&quot;今天分拣了多少、各几件&quot;&lt;/Text&gt;&#10;                &lt;/Box&gt;&#10;            &lt;/Box&gt;&#10;&#10;            {/* Transition line */}&#10;            &lt;Text style={{ fontSize: 14, color: '#4A5568', marginTop: 12, textAlign: 'center' }}&gt;看 → 抓 → 记，三步形成一个完整的&quot;物理世界 + 数字世界&quot;闭环&lt;/Text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&lt;/Text&gt;&#10;            &lt;Text style={{ fontSize: 12, color: '#1E4FA8', fontWeight: 'bold' }}&gt;05 / 11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571500" y="266700"/>
            <a:ext cx="2247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智能硬件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第一课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571500" y="9144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THE PROJECT</a:t>
            </a:r>
            <a:endParaRPr lang="en-US" sz="1050" b="1" spc="2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571500" y="11715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这学期，我们要造什么？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571500" y="1695450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03" name="圆角矩形 202"/>
          <p:cNvSpPr/>
          <p:nvPr/>
        </p:nvSpPr>
        <p:spPr>
          <a:xfrm>
            <a:off x="609600" y="1895475"/>
            <a:ext cx="11049000" cy="1181100"/>
          </a:xfrm>
          <a:prstGeom prst="roundRect">
            <a:avLst>
              <a:gd name="adj" fmla="val 3226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04" name="任意多边形 203"/>
          <p:cNvSpPr/>
          <p:nvPr/>
        </p:nvSpPr>
        <p:spPr>
          <a:xfrm>
            <a:off x="609600" y="1895475"/>
            <a:ext cx="11049000" cy="1181100"/>
          </a:xfrm>
          <a:custGeom>
            <a:avLst/>
            <a:gdLst/>
            <a:ahLst/>
            <a:cxnLst/>
            <a:pathLst>
              <a:path w="1160" h="124">
                <a:moveTo>
                  <a:pt x="4" y="124"/>
                </a:move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4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800100" y="2047875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一句话定位</a:t>
            </a:r>
            <a:endParaRPr lang="zh-CN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800100" y="2295525"/>
            <a:ext cx="106299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一台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会看、会抓、会记账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的智能机械臂——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800100" y="2609850"/>
            <a:ext cx="106299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自动识别垃圾、抓取到正确位置，并把每一笔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入库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记录到管理看板。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571500" y="3209925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762000" y="3371850"/>
            <a:ext cx="571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项目全称</a:t>
            </a:r>
            <a:endParaRPr lang="zh-CN" sz="975" spc="15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1485900" y="3343275"/>
            <a:ext cx="3771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基于计算机视觉的智能机械臂垃圾分拣与管理系统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圆角矩形 210"/>
          <p:cNvSpPr/>
          <p:nvPr>
            <p:custDataLst>
              <p:tags r:id="rId1"/>
            </p:custDataLst>
          </p:nvPr>
        </p:nvSpPr>
        <p:spPr>
          <a:xfrm>
            <a:off x="571500" y="3838575"/>
            <a:ext cx="3590925" cy="2209800"/>
          </a:xfrm>
          <a:prstGeom prst="roundRect">
            <a:avLst>
              <a:gd name="adj" fmla="val 258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2" name="文本框 211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742950" y="4010025"/>
            <a:ext cx="3248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r>
              <a:rPr lang="en-US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1 · </a:t>
            </a:r>
            <a:r>
              <a:rPr lang="zh-CN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看</a:t>
            </a:r>
            <a:endParaRPr lang="zh-CN" sz="900" b="1" spc="1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742950" y="4229100"/>
            <a:ext cx="3248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摄像头识别垃圾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742950" y="4476750"/>
            <a:ext cx="3248025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YOLO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模型认出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这是可回收物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厨余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有害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其他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，并给出它在桌上的位置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>
            <p:custDataLst>
              <p:tags r:id="rId5"/>
            </p:custDataLst>
          </p:nvPr>
        </p:nvSpPr>
        <p:spPr>
          <a:xfrm>
            <a:off x="4295775" y="3838575"/>
            <a:ext cx="3600450" cy="2209800"/>
          </a:xfrm>
          <a:prstGeom prst="roundRect">
            <a:avLst>
              <a:gd name="adj" fmla="val 258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4467225" y="4010025"/>
            <a:ext cx="3257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r>
              <a:rPr lang="en-US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2 · </a:t>
            </a:r>
            <a:r>
              <a:rPr lang="zh-CN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抓</a:t>
            </a:r>
            <a:endParaRPr lang="zh-CN" sz="900" b="1" spc="1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4467225" y="4229100"/>
            <a:ext cx="3257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机械臂精准分拣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4467225" y="4476750"/>
            <a:ext cx="325755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昇腾机械臂收到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目标位置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，自己算出每个关节该转多少度，稳稳抓起来放好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圆角矩形 218"/>
          <p:cNvSpPr/>
          <p:nvPr>
            <p:custDataLst>
              <p:tags r:id="rId9"/>
            </p:custDataLst>
          </p:nvPr>
        </p:nvSpPr>
        <p:spPr>
          <a:xfrm>
            <a:off x="8029575" y="3838575"/>
            <a:ext cx="3590925" cy="2209800"/>
          </a:xfrm>
          <a:prstGeom prst="roundRect">
            <a:avLst>
              <a:gd name="adj" fmla="val 258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8201025" y="4010025"/>
            <a:ext cx="3248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r>
              <a:rPr lang="en-US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3 · </a:t>
            </a:r>
            <a:r>
              <a:rPr lang="zh-CN" sz="9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记</a:t>
            </a:r>
            <a:endParaRPr lang="zh-CN" sz="900" b="1" spc="1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8201025" y="4229100"/>
            <a:ext cx="3248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管理看板记账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8201025" y="4476750"/>
            <a:ext cx="3248025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每一次抓取都变成一条数据，网页上实时看得到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今天分拣了多少、各几件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571500" y="6162675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看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抓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记，三步形成一个完整的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物理世界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数字世界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闭环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25" name="任意多边形 224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571500" y="6610350"/>
            <a:ext cx="7334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软硬融合开题课</a:t>
            </a:r>
            <a:endParaRPr lang="zh-CN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" descr="&lt;Slide padding={0} notes={`这张图是它内部的样子。最上面是感知层，摄像头加 OpenCV 负责&quot;看&quot;；视觉层用 YOLOv8 做目标检测，认出垃圾类别；控制层是 ROS2 加逆运动学，负责&quot;想&quot;，算出每个关节该转多少度；执行层就是昇腾机械臂和它的夹爪，负责&quot;动&quot;。&#10;&#10;再往下，数据层把每次抓取记成一条 JSON 事件，应用层和管理层就是大家最熟悉的 Web 看板和统计图表。&#10;&#10;大家发现没有，前四层是硬件和算法，后三层就是你们最拿手的软件工程。`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软件工程 × 智能硬件 · 第一课&lt;/Text&gt;&#10;            &lt;Text style={{ fontSize: 14, color: '#E8EFF8', letterSpacing: 2 }}&gt;06 / 11&lt;/Text&gt;&#10;        &lt;/Box&gt;&#10;&#10;        {/* Content */}&#10;        &lt;Box style={{ position: 'absolute', top: 96, left: 60, right: 60, bottom: 56, flexDirection: 'column' }}&gt;&#10;            &lt;Text style={{ fontSize: 32, color: '#0E3F8C', fontWeight: 'bold' }}&gt;它长什么样：一条会思考的流水线&lt;/Text&gt;&#10;            &lt;Box style={{ width: 64, height: 3, background: '#1E4FA8', marginTop: 14 }} /&gt;&#10;&#10;            {/* Flow: 看 → 想 → 动 → 记 */}&#10;            &lt;Box style={{ flexDirection: 'row', alignItems: 'center', marginTop: 22, gap: 8 }}&gt;&#10;                &lt;Box style={{ flex: 1, height: 110, background: '#0E3F8C', borderRadius: 6, padding: 16, flexDirection: 'column', justifyContent: 'center' }}&gt;&#10;                    &lt;Text style={{ fontSize: 13, color: '#E8EFF8', letterSpacing: 2 }}&gt;① 看&lt;/Text&gt;&#10;                    &lt;Text style={{ fontSize: 17, color: '#FFFFFF', fontWeight: 'bold', marginTop: 6 }}&gt;摄像头 + YOLO&lt;/Text&gt;&#10;                    &lt;Text style={{ fontSize: 12, color: '#D5DFF0', marginTop: 4 }}&gt;认出垃圾类别和位置&lt;/Text&gt;&#10;                &lt;/Box&gt;&#10;                &lt;Text style={{ fontSize: 24, color: '#1E4FA8', fontWeight: 'bold' }}&gt;→&lt;/Text&gt;&#10;                &lt;Box style={{ flex: 1, height: 110, background: '#1E4FA8', borderRadius: 6, padding: 16, flexDirection: 'column', justifyContent: 'center' }}&gt;&#10;                    &lt;Text style={{ fontSize: 13, color: '#E8EFF8', letterSpacing: 2 }}&gt;② 想&lt;/Text&gt;&#10;                    &lt;Text style={{ fontSize: 17, color: '#FFFFFF', fontWeight: 'bold', marginTop: 6 }}&gt;控制决策 + IK&lt;/Text&gt;&#10;                    &lt;Text style={{ fontSize: 12, color: '#D5DFF0', marginTop: 4 }}&gt;算出每个关节转多少度&lt;/Text&gt;&#10;                &lt;/Box&gt;&#10;                &lt;Text style={{ fontSize: 24, color: '#1E4FA8', fontWeight: 'bold' }}&gt;→&lt;/Text&gt;&#10;                &lt;Box style={{ flex: 1, height: 110, background: '#1E4FA8', borderRadius: 6, padding: 16, flexDirection: 'column', justifyContent: 'center' }}&gt;&#10;                    &lt;Text style={{ fontSize: 13, color: '#E8EFF8', letterSpacing: 2 }}&gt;③ 动&lt;/Text&gt;&#10;                    &lt;Text style={{ fontSize: 17, color: '#FFFFFF', fontWeight: 'bold', marginTop: 6 }}&gt;昇腾机械臂&lt;/Text&gt;&#10;                    &lt;Text style={{ fontSize: 12, color: '#D5DFF0', marginTop: 4 }}&gt;抓起来放到正确位置&lt;/Text&gt;&#10;                &lt;/Box&gt;&#10;                &lt;Text style={{ fontSize: 24, color: '#1E4FA8', fontWeight: 'bold' }}&gt;→&lt;/Text&gt;&#10;                &lt;Box style={{ flex: 1, height: 110, background: '#0E3F8C', borderRadius: 6, padding: 16, flexDirection: 'column', justifyContent: 'center' }}&gt;&#10;                    &lt;Text style={{ fontSize: 13, color: '#E8EFF8', letterSpacing: 2 }}&gt;④ 记&lt;/Text&gt;&#10;                    &lt;Text style={{ fontSize: 17, color: '#FFFFFF', fontWeight: 'bold', marginTop: 6 }}&gt;Web 管理看板&lt;/Text&gt;&#10;                    &lt;Text style={{ fontSize: 12, color: '#D5DFF0', marginTop: 4 }}&gt;实时记账 + 统计&lt;/Text&gt;&#10;                &lt;/Box&gt;&#10;            &lt;/Box&gt;&#10;&#10;            {/* Two columns: 架构分层 + 真机演示占位 */}&#10;            &lt;Box style={{ flex: 1, flexDirection: 'row', gap: 16, marginTop: 20 }}&gt;&#10;                {/* Left: layer list */}&#10;                &lt;Box style={{ flex: 1.2, flexDirection: 'column', gap: 8 }}&gt;&#10;                    &lt;Text style={{ fontSize: 14, color: '#1E4FA8', fontWeight: 'bold' }}&gt;七层技术栈（一学期逐个点亮）&lt;/Text&gt;&#10;                    &lt;Box style={{ flexDirection: 'row', alignItems: 'center', gap: 10 }}&gt;&#10;                        &lt;Box style={{ width: 72, height: 30, background: '#F0F5FC', border: '1px solid #C9D8EE', borderRadius: 4, alignItems: 'center', justifyContent: 'center' }}&gt;&#10;                            &lt;Text style={{ fontSize: 11, color: '#1E4FA8' }}&gt;感知层&lt;/Text&gt;&#10;                        &lt;/Box&gt;&#10;                        &lt;Text style={{ fontSize: 12, color: '#4A5568' }}&gt;摄像头 · OpenCV&lt;/Text&gt;&#10;                    &lt;/Box&gt;&#10;                    &lt;Box style={{ flexDirection: 'row', alignItems: 'center', gap: 10 }}&gt;&#10;                        &lt;Box style={{ width: 72, height: 30, background: '#F0F5FC', border: '1px solid #C9D8EE', borderRadius: 4, alignItems: 'center', justifyContent: 'center' }}&gt;&#10;                            &lt;Text style={{ fontSize: 11, color: '#1E4FA8' }}&gt;视觉层&lt;/Text&gt;&#10;                        &lt;/Box&gt;&#10;                        &lt;Text style={{ fontSize: 12, color: '#4A5568' }}&gt;YOLOv8 目标检测&lt;/Text&gt;&#10;                    &lt;/Box&gt;&#10;                    &lt;Box style={{ flexDirection: 'row', alignItems: 'center', gap: 10 }}&gt;&#10;                        &lt;Box style={{ width: 72, height: 30, background: '#F0F5FC', border: '1px solid #C9D8EE', borderRadius: 4, alignItems: 'center', justifyContent: 'center' }}&gt;&#10;                            &lt;Text style={{ fontSize: 11, color: '#1E4FA8' }}&gt;控制层&lt;/Text&gt;&#10;                        &lt;/Box&gt;&#10;                        &lt;Text style={{ fontSize: 12, color: '#4A5568' }}&gt;ROS2 · 逆运动学(IK)&lt;/Text&gt;&#10;                    &lt;/Box&gt;&#10;                    &lt;Box style={{ flexDirection: 'row', alignItems: 'center', gap: 10 }}&gt;&#10;                        &lt;Box style={{ width: 72, height: 30, background: '#F0F5FC', border: '1px solid #C9D8EE', borderRadius: 4, alignItems: 'center', justifyContent: 'center' }}&gt;&#10;                            &lt;Text style={{ fontSize: 11, color: '#1E4FA8' }}&gt;执行层&lt;/Text&gt;&#10;                        &lt;/Box&gt;&#10;                        &lt;Text style={{ fontSize: 12, color: '#4A5568' }}&gt;昇腾机械臂 · 夹爪&lt;/Text&gt;&#10;                    &lt;/Box&gt;&#10;                    &lt;Box style={{ flexDirection: 'row', alignItems: 'center', gap: 10 }}&gt;&#10;                        &lt;Box style={{ width: 72, height: 30, background: '#F0F5FC', border: '1px solid #C9D8EE', borderRadius: 4, alignItems: 'center', justifyContent: 'center' }}&gt;&#10;                            &lt;Text style={{ fontSize: 11, color: '#1E4FA8' }}&gt;数据层&lt;/Text&gt;&#10;                        &lt;/Box&gt;&#10;                        &lt;Text style={{ fontSize: 12, color: '#4A5568' }}&gt;事件日志 · JSON&lt;/Text&gt;&#10;                    &lt;/Box&gt;&#10;                    &lt;Box style={{ flexDirection: 'row', alignItems: 'center', gap: 10 }}&gt;&#10;                        &lt;Box style={{ width: 72, height: 30, background: '#F0F5FC', border: '1px solid #C9D8EE', borderRadius: 4, alignItems: 'center', justifyContent: 'center' }}&gt;&#10;                            &lt;Text style={{ fontSize: 11, color: '#1E4FA8' }}&gt;应用层&lt;/Text&gt;&#10;                        &lt;/Box&gt;&#10;                        &lt;Text style={{ fontSize: 12, color: '#4A5568' }}&gt;Web 看板 · 统计图表&lt;/Text&gt;&#10;                    &lt;/Box&gt;&#10;                    &lt;Box style={{ flexDirection: 'row', alignItems: 'center', gap: 10 }}&gt;&#10;                        &lt;Box style={{ width: 72, height: 30, background: '#F0F5FC', border: '1px solid #C9D8EE', borderRadius: 4, alignItems: 'center', justifyContent: 'center' }}&gt;&#10;                            &lt;Text style={{ fontSize: 11, color: '#1E4FA8' }}&gt;管理层&lt;/Text&gt;&#10;                        &lt;/Box&gt;&#10;                        &lt;Text style={{ fontSize: 12, color: '#4A5568' }}&gt;异常告警 · 出入库&lt;/Text&gt;&#10;                    &lt;/Box&gt;&#10;                &lt;/Box&gt;&#10;&#10;                {/* Right: demo placeholder */}&#10;                &lt;Box style={{ flex: 1, background: '#FAFBFD', border: '2px dashed #C9D8EE', borderRadius: 8, flexDirection: 'column', alignItems: 'center', justifyContent: 'center', padding: 20 }}&gt;&#10;                    &lt;Text style={{ fontSize: 40, color: '#C9D8EE' }}&gt;▶&lt;/Text&gt;&#10;                    &lt;Text style={{ fontSize: 16, color: '#1E4FA8', fontWeight: 'bold', marginTop: 12 }}&gt;【真机演示视频 / 照片】&lt;/Text&gt;&#10;                    &lt;Text style={{ fontSize: 13, color: '#4A5568', marginTop: 8, lineHeight: 1.6, textAlign: 'center' }}&gt;此处放一段 30 秒的机械臂分拣实拍&lt;/Text&gt;&#10;                    &lt;Text style={{ fontSize: 13, color: '#4A5568', lineHeight: 1.6, textAlign: 'center' }}&gt;让同学直观看到最终成品&lt;/Text&gt;&#10;                    &lt;Text style={{ fontSize: 12, color: '#8B97A8', marginTop: 12 }}&gt;（无现成视频可先用仿真动画代替）&lt;/Text&gt;&#10;                &lt;/Box&gt;&#10;            &lt;/Box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&lt;/Text&gt;&#10;            &lt;Text style={{ fontSize: 12, color: '#1E4FA8', fontWeight: 'bold' }}&gt;06 / 11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矩形 228"/>
          <p:cNvSpPr/>
          <p:nvPr/>
        </p:nvSpPr>
        <p:spPr>
          <a:xfrm>
            <a:off x="0" y="1016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30" name="矩形 229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571500" y="266700"/>
            <a:ext cx="2247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智能硬件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第一课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571500" y="914400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它长什么样：一条会思考的流水线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571500" y="1419225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35" name="圆角矩形 234"/>
          <p:cNvSpPr/>
          <p:nvPr/>
        </p:nvSpPr>
        <p:spPr>
          <a:xfrm>
            <a:off x="571500" y="1657350"/>
            <a:ext cx="2476500" cy="1047750"/>
          </a:xfrm>
          <a:prstGeom prst="roundRect">
            <a:avLst>
              <a:gd name="adj" fmla="val 5455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23900" y="1885950"/>
            <a:ext cx="2171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975" spc="15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看</a:t>
            </a:r>
            <a:endParaRPr lang="zh-CN" sz="975" spc="15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723900" y="2095500"/>
            <a:ext cx="2171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摄像头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+ YOLO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723900" y="2333625"/>
            <a:ext cx="2171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5DFF0"/>
                </a:solidFill>
                <a:latin typeface="微软雅黑" panose="020B0503020204020204" charset="-122"/>
                <a:ea typeface="微软雅黑" panose="020B0503020204020204" charset="-122"/>
              </a:rPr>
              <a:t>认出垃圾类别和位置</a:t>
            </a:r>
            <a:endParaRPr lang="zh-CN" sz="900">
              <a:solidFill>
                <a:srgbClr val="D5DF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3124200" y="2047875"/>
            <a:ext cx="228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8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圆角矩形 239"/>
          <p:cNvSpPr/>
          <p:nvPr/>
        </p:nvSpPr>
        <p:spPr>
          <a:xfrm>
            <a:off x="3429000" y="1657350"/>
            <a:ext cx="2476500" cy="1047750"/>
          </a:xfrm>
          <a:prstGeom prst="roundRect">
            <a:avLst>
              <a:gd name="adj" fmla="val 5455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3581400" y="1885950"/>
            <a:ext cx="2171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975" spc="15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想</a:t>
            </a:r>
            <a:endParaRPr lang="zh-CN" sz="975" spc="15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3581400" y="2095500"/>
            <a:ext cx="2171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控制决策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+ IK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3581400" y="2333625"/>
            <a:ext cx="2171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5DFF0"/>
                </a:solidFill>
                <a:latin typeface="微软雅黑" panose="020B0503020204020204" charset="-122"/>
                <a:ea typeface="微软雅黑" panose="020B0503020204020204" charset="-122"/>
              </a:rPr>
              <a:t>算出每个关节转多少度</a:t>
            </a:r>
            <a:endParaRPr lang="zh-CN" sz="900">
              <a:solidFill>
                <a:srgbClr val="D5DF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5981700" y="2047875"/>
            <a:ext cx="228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8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6286500" y="1657350"/>
            <a:ext cx="2476500" cy="1047750"/>
          </a:xfrm>
          <a:prstGeom prst="roundRect">
            <a:avLst>
              <a:gd name="adj" fmla="val 5455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6438900" y="1885950"/>
            <a:ext cx="2171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975" spc="15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动</a:t>
            </a:r>
            <a:endParaRPr lang="zh-CN" sz="975" spc="15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6438900" y="2095500"/>
            <a:ext cx="2171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昇腾机械臂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438900" y="2333625"/>
            <a:ext cx="2171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5DFF0"/>
                </a:solidFill>
                <a:latin typeface="微软雅黑" panose="020B0503020204020204" charset="-122"/>
                <a:ea typeface="微软雅黑" panose="020B0503020204020204" charset="-122"/>
              </a:rPr>
              <a:t>抓起来放到正确位置</a:t>
            </a:r>
            <a:endParaRPr lang="zh-CN" sz="900">
              <a:solidFill>
                <a:srgbClr val="D5DF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8839200" y="2047875"/>
            <a:ext cx="228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8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圆角矩形 249"/>
          <p:cNvSpPr/>
          <p:nvPr/>
        </p:nvSpPr>
        <p:spPr>
          <a:xfrm>
            <a:off x="9144000" y="1657350"/>
            <a:ext cx="2476500" cy="1047750"/>
          </a:xfrm>
          <a:prstGeom prst="roundRect">
            <a:avLst>
              <a:gd name="adj" fmla="val 5455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9296400" y="1885950"/>
            <a:ext cx="2171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lang="zh-CN" sz="975" spc="15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记</a:t>
            </a:r>
            <a:endParaRPr lang="zh-CN" sz="975" spc="15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9296400" y="2095500"/>
            <a:ext cx="2171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管理看板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9296400" y="2333625"/>
            <a:ext cx="2171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5DFF0"/>
                </a:solidFill>
                <a:latin typeface="微软雅黑" panose="020B0503020204020204" charset="-122"/>
                <a:ea typeface="微软雅黑" panose="020B0503020204020204" charset="-122"/>
              </a:rPr>
              <a:t>实时记账</a:t>
            </a:r>
            <a:r>
              <a:rPr lang="en-US" sz="900">
                <a:solidFill>
                  <a:srgbClr val="D5DF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D5DFF0"/>
                </a:solidFill>
                <a:latin typeface="微软雅黑" panose="020B0503020204020204" charset="-122"/>
                <a:ea typeface="微软雅黑" panose="020B0503020204020204" charset="-122"/>
              </a:rPr>
              <a:t>统计</a:t>
            </a:r>
            <a:endParaRPr lang="zh-CN" sz="900">
              <a:solidFill>
                <a:srgbClr val="D5DF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571500" y="2895600"/>
            <a:ext cx="5943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七层技术栈（一学期逐个点亮）</a:t>
            </a:r>
            <a:endParaRPr lang="zh-CN"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圆角矩形 254"/>
          <p:cNvSpPr/>
          <p:nvPr/>
        </p:nvSpPr>
        <p:spPr>
          <a:xfrm>
            <a:off x="571500" y="3133725"/>
            <a:ext cx="685800" cy="285750"/>
          </a:xfrm>
          <a:prstGeom prst="roundRect">
            <a:avLst>
              <a:gd name="adj" fmla="val 13333"/>
            </a:avLst>
          </a:prstGeom>
          <a:solidFill>
            <a:srgbClr val="F0F5FC"/>
          </a:solidFill>
          <a:ln w="12700">
            <a:solidFill>
              <a:srgbClr val="C9D8EE"/>
            </a:solidFill>
            <a:prstDash val="solid"/>
          </a:ln>
        </p:spPr>
        <p:txBody>
          <a:bodyPr/>
          <a:p/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721360" y="3199765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感知层</a:t>
            </a:r>
            <a:endParaRPr lang="zh-CN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1352550" y="3209925"/>
            <a:ext cx="895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摄像头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OpenCV</a:t>
            </a:r>
            <a:endParaRPr lang="en-US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圆角矩形 257"/>
          <p:cNvSpPr/>
          <p:nvPr/>
        </p:nvSpPr>
        <p:spPr>
          <a:xfrm>
            <a:off x="571500" y="3495675"/>
            <a:ext cx="685800" cy="285750"/>
          </a:xfrm>
          <a:prstGeom prst="roundRect">
            <a:avLst>
              <a:gd name="adj" fmla="val 13333"/>
            </a:avLst>
          </a:prstGeom>
          <a:solidFill>
            <a:srgbClr val="F0F5FC"/>
          </a:solidFill>
          <a:ln w="12700">
            <a:solidFill>
              <a:srgbClr val="C9D8EE"/>
            </a:solidFill>
            <a:prstDash val="solid"/>
          </a:ln>
        </p:spPr>
        <p:txBody>
          <a:bodyPr/>
          <a:p/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741680" y="3561715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视觉层</a:t>
            </a:r>
            <a:endParaRPr lang="zh-CN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352550" y="3571875"/>
            <a:ext cx="933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YOLOv8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目标检测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571500" y="3857625"/>
            <a:ext cx="685800" cy="285750"/>
          </a:xfrm>
          <a:prstGeom prst="roundRect">
            <a:avLst>
              <a:gd name="adj" fmla="val 13333"/>
            </a:avLst>
          </a:prstGeom>
          <a:solidFill>
            <a:srgbClr val="F0F5FC"/>
          </a:solidFill>
          <a:ln w="12700">
            <a:solidFill>
              <a:srgbClr val="C9D8EE"/>
            </a:solidFill>
            <a:prstDash val="solid"/>
          </a:ln>
        </p:spPr>
        <p:txBody>
          <a:bodyPr/>
          <a:p/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741680" y="3923665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控制层</a:t>
            </a:r>
            <a:endParaRPr lang="zh-CN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1352550" y="3933825"/>
            <a:ext cx="10382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ROS2 ·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逆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运动学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(IK)</a:t>
            </a:r>
            <a:endParaRPr lang="en-US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圆角矩形 263"/>
          <p:cNvSpPr/>
          <p:nvPr/>
        </p:nvSpPr>
        <p:spPr>
          <a:xfrm>
            <a:off x="581660" y="4219575"/>
            <a:ext cx="685800" cy="285750"/>
          </a:xfrm>
          <a:prstGeom prst="roundRect">
            <a:avLst>
              <a:gd name="adj" fmla="val 13333"/>
            </a:avLst>
          </a:prstGeom>
          <a:solidFill>
            <a:srgbClr val="F0F5FC"/>
          </a:solidFill>
          <a:ln w="12700">
            <a:solidFill>
              <a:srgbClr val="C9D8EE"/>
            </a:solidFill>
            <a:prstDash val="solid"/>
          </a:ln>
        </p:spPr>
        <p:txBody>
          <a:bodyPr/>
          <a:p/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701040" y="4285615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执行层</a:t>
            </a:r>
            <a:endParaRPr lang="zh-CN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1352550" y="4295775"/>
            <a:ext cx="895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昇腾机械臂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夹爪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圆角矩形 266"/>
          <p:cNvSpPr/>
          <p:nvPr/>
        </p:nvSpPr>
        <p:spPr>
          <a:xfrm>
            <a:off x="571500" y="4581525"/>
            <a:ext cx="685800" cy="285750"/>
          </a:xfrm>
          <a:prstGeom prst="roundRect">
            <a:avLst>
              <a:gd name="adj" fmla="val 13333"/>
            </a:avLst>
          </a:prstGeom>
          <a:solidFill>
            <a:srgbClr val="F0F5FC"/>
          </a:solidFill>
          <a:ln w="12700">
            <a:solidFill>
              <a:srgbClr val="C9D8EE"/>
            </a:solidFill>
            <a:prstDash val="solid"/>
          </a:ln>
        </p:spPr>
        <p:txBody>
          <a:bodyPr/>
          <a:p/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762000" y="4657725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lang="zh-CN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352550" y="4657725"/>
            <a:ext cx="8572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事件日志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JSON</a:t>
            </a:r>
            <a:endParaRPr lang="en-US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571500" y="4943475"/>
            <a:ext cx="685800" cy="285750"/>
          </a:xfrm>
          <a:prstGeom prst="roundRect">
            <a:avLst>
              <a:gd name="adj" fmla="val 13333"/>
            </a:avLst>
          </a:prstGeom>
          <a:solidFill>
            <a:srgbClr val="F0F5FC"/>
          </a:solidFill>
          <a:ln w="12700">
            <a:solidFill>
              <a:srgbClr val="C9D8EE"/>
            </a:solidFill>
            <a:prstDash val="solid"/>
          </a:ln>
        </p:spPr>
        <p:txBody>
          <a:bodyPr/>
          <a:p/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762000" y="5019675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应用层</a:t>
            </a:r>
            <a:endParaRPr lang="zh-CN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1352550" y="5019675"/>
            <a:ext cx="1066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看板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统计图表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571500" y="5305425"/>
            <a:ext cx="685800" cy="285750"/>
          </a:xfrm>
          <a:prstGeom prst="roundRect">
            <a:avLst>
              <a:gd name="adj" fmla="val 13333"/>
            </a:avLst>
          </a:prstGeom>
          <a:solidFill>
            <a:srgbClr val="F0F5FC"/>
          </a:solidFill>
          <a:ln w="12700">
            <a:solidFill>
              <a:srgbClr val="C9D8EE"/>
            </a:solidFill>
            <a:prstDash val="solid"/>
          </a:ln>
        </p:spPr>
        <p:txBody>
          <a:bodyPr/>
          <a:p/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762000" y="5381625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管理层</a:t>
            </a:r>
            <a:endParaRPr lang="zh-CN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352550" y="5381625"/>
            <a:ext cx="895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异常告警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出入库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矩形 281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83" name="任意多边形 282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571500" y="6610350"/>
            <a:ext cx="7334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软硬融合开题课</a:t>
            </a:r>
            <a:endParaRPr lang="zh-CN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1" name="圆角矩形 340"/>
          <p:cNvSpPr/>
          <p:nvPr/>
        </p:nvSpPr>
        <p:spPr>
          <a:xfrm>
            <a:off x="5905500" y="2739390"/>
            <a:ext cx="4859655" cy="3870960"/>
          </a:xfrm>
          <a:prstGeom prst="roundRect">
            <a:avLst>
              <a:gd name="adj" fmla="val 130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6096000" y="2929890"/>
            <a:ext cx="4532630" cy="13525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SYSTEM PIPELINE</a:t>
            </a:r>
            <a:endParaRPr lang="en-US" sz="975" b="1" spc="1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3" name="图片 34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00950" y="3177540"/>
            <a:ext cx="2024380" cy="1518285"/>
          </a:xfrm>
          <a:prstGeom prst="rect">
            <a:avLst/>
          </a:prstGeom>
        </p:spPr>
      </p:pic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6381750" y="4996815"/>
            <a:ext cx="1274445" cy="13525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摄像头识别物体类别与位置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6381750" y="5263515"/>
            <a:ext cx="1061720" cy="13525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手眼标定换算世界坐标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6381750" y="5530215"/>
            <a:ext cx="1061720" cy="13525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逆运动学求解关节角度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6381750" y="5796915"/>
            <a:ext cx="1274445" cy="13525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机械臂执行抓取并分类放置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5" name="" descr="&lt;Slide padding={0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项目详细要求 · 智能机械臂垃圾分拣&lt;/Text&gt;&#10;            &lt;Text style={{ fontSize: 14, color: '#E8EFF8', letterSpacing: 2 }}&gt;03 / 14&lt;/Text&gt;&#10;        &lt;/Box&gt;&#10;&#10;        {/* Content */}&#10;        &lt;Box style={{ position: 'absolute', top: 96, left: 60, right: 60, bottom: 56, flexDirection: 'column' }}&gt;&#10;            &lt;Text style={{ fontSize: 14, color: '#1E4FA8', letterSpacing: 3, fontWeight: 'bold' }}&gt;CORE FEATURES · 基本功能&lt;/Text&gt;&#10;            &lt;Text style={{ fontSize: 32, color: '#0E3F8C', fontWeight: 'bold', marginTop: 10 }}&gt;4 大必做功能，缺一不可&lt;/Text&gt;&#10;            &lt;Box style={{ width: 64, height: 3, background: '#1E4FA8', marginTop: 16 }} /&gt;&#10;&#10;            {/* 4 features in 2x2 grid */}&#10;            &lt;Box style={{ flex: 1, flexDirection: 'column', gap: 14, marginTop: 20 }}&gt;&#10;                {/* Row 1 */}&#10;                &lt;Box style={{ flex: 1, flexDirection: 'row', gap: 14 }}&gt;&#10;                    &lt;Box style={{ flex: 1, background: '#F7F9FC', border: '1px solid #D6DCE5', borderRadius: 6, padding: 18, flexDirection: 'row', gap: 14 }}&gt;&#10;                        &lt;Box style={{ width: 56, height: 56, background: '#0E3F8C', borderRadius: 4, alignItems: 'center', justifyContent: 'center' }}&gt;&#10;                            &lt;Text style={{ fontSize: 22, color: '#FFFFFF', fontWeight: 'bold' }}&gt;F1&lt;/Text&gt;&#10;                        &lt;/Box&gt;&#10;                        &lt;Box style={{ flex: 1 }}&gt;&#10;                            &lt;Text style={{ fontSize: 18, color: '#0E3F8C', fontWeight: 'bold' }}&gt;视觉识别&lt;/Text&gt;&#10;                            &lt;Text style={{ fontSize: 12, color: '#4A5568', marginTop: 4, lineHeight: 1.5 }}&gt;认出 4 类垃圾 + 给出像素坐标&lt;/Text&gt;&#10;                            &lt;Text style={{ fontSize: 12, color: '#1E4FA8', marginTop: 6, lineHeight: 1.5 }}&gt;对应原始大纲&quot;任务 4/5&quot;&lt;/Text&gt;&#10;                        &lt;/Box&gt;&#10;                    &lt;/Box&gt;&#10;                    &lt;Box style={{ flex: 1, background: '#F7F9FC', border: '1px solid #D6DCE5', borderRadius: 6, padding: 18, flexDirection: 'row', gap: 14 }}&gt;&#10;                        &lt;Box style={{ width: 56, height: 56, background: '#0E3F8C', borderRadius: 4, alignItems: 'center', justifyContent: 'center' }}&gt;&#10;                            &lt;Text style={{ fontSize: 22, color: '#FFFFFF', fontWeight: 'bold' }}&gt;F2&lt;/Text&gt;&#10;                        &lt;/Box&gt;&#10;                        &lt;Box style={{ flex: 1 }}&gt;&#10;                            &lt;Text style={{ fontSize: 18, color: '#0E3F8C', fontWeight: 'bold' }}&gt;任意位置分拣&lt;/Text&gt;&#10;                            &lt;Text style={{ fontSize: 12, color: '#4A5568', marginTop: 4, lineHeight: 1.5 }}&gt;桌面上任何位置都能抓&lt;/Text&gt;&#10;                            &lt;Text style={{ fontSize: 12, color: '#1E4FA8', marginTop: 6, lineHeight: 1.5 }}&gt;对应原始大纲&quot;任务 5&quot;&lt;/Text&gt;&#10;                        &lt;/Box&gt;&#10;                    &lt;/Box&gt;&#10;                &lt;/Box&gt;&#10;                {/* Row 2 */}&#10;                &lt;Box style={{ flex: 1, flexDirection: 'row', gap: 14 }}&gt;&#10;                    &lt;Box style={{ flex: 1, background: '#F7F9FC', border: '1px solid #D6DCE5', borderRadius: 6, padding: 18, flexDirection: 'row', gap: 14 }}&gt;&#10;                        &lt;Box style={{ width: 56, height: 56, background: '#0E3F8C', borderRadius: 4, alignItems: 'center', justifyContent: 'center' }}&gt;&#10;                            &lt;Text style={{ fontSize: 22, color: '#FFFFFF', fontWeight: 'bold' }}&gt;F3&lt;/Text&gt;&#10;                        &lt;/Box&gt;&#10;                        &lt;Box style={{ flex: 1 }}&gt;&#10;                            &lt;Text style={{ fontSize: 18, color: '#0E3F8C', fontWeight: 'bold' }}&gt;管理看板&lt;/Text&gt;&#10;                            &lt;Text style={{ fontSize: 12, color: '#4A5568', marginTop: 4, lineHeight: 1.5 }}&gt;Web 上实时看分拣记录&lt;/Text&gt;&#10;                            &lt;Text style={{ fontSize: 12, color: '#1E4FA8', marginTop: 6, lineHeight: 1.5 }}&gt;新增需求（原大纲无）&lt;/Text&gt;&#10;                        &lt;/Box&gt;&#10;                    &lt;/Box&gt;&#10;                    &lt;Box style={{ flex: 1, background: '#F7F9FC', border: '1px solid #D6DCE5', borderRadius: 6, padding: 18, flexDirection: 'row', gap: 14 }}&gt;&#10;                        &lt;Box style={{ width: 56, height: 56, background: '#0E3F8C', borderRadius: 4, alignItems: 'center', justifyContent: 'center' }}&gt;&#10;                            &lt;Text style={{ fontSize: 22, color: '#FFFFFF', fontWeight: 'bold' }}&gt;F4&lt;/Text&gt;&#10;                        &lt;/Box&gt;&#10;                        &lt;Box style={{ flex: 1 }}&gt;&#10;                            &lt;Text style={{ fontSize: 18, color: '#0E3F8C', fontWeight: 'bold' }}&gt;兜底机制&lt;/Text&gt;&#10;                            &lt;Text style={{ fontSize: 12, color: '#4A5568', marginTop: 4, lineHeight: 1.5 }}&gt;识别/抓取失败的备用方案&lt;/Text&gt;&#10;                            &lt;Text style={{ fontSize: 12, color: '#1E4FA8', marginTop: 6, lineHeight: 1.5 }}&gt;演示能跑通的关键&lt;/Text&gt;&#10;                        &lt;/Box&gt;&#10;                    &lt;/Box&gt;&#10;                &lt;/Box&gt;&#10;            &lt;/Box&gt;&#10;&#10;            {/* Bottom note */}&#10;            &lt;Box style={{ marginTop: 12, padding: '10px 18px', background: '#F0F5FC', borderLeft: '4px solid #1E4FA8', borderRadius: 4 }}&gt;&#10;                &lt;Text style={{ fontSize: 13, color: '#1E4FA8', fontWeight: 'bold' }}&gt;验收逻辑：&lt;/Text&gt;&#10;                &lt;Text style={{ fontSize: 13, color: '#1A2230', marginLeft: 8 }}&gt;4 项功能都能稳定运行（演示 100% 不翻车）= 评审 2 通过。任一项缺位 = 进入修补周。&lt;/Text&gt;&#10;            &lt;/Box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 · 项目详细文档&lt;/Text&gt;&#10;            &lt;Text style={{ fontSize: 12, color: '#1E4FA8', fontWeight: 'bold' }}&gt;03 / 14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矩形 295"/>
          <p:cNvSpPr/>
          <p:nvPr/>
        </p:nvSpPr>
        <p:spPr>
          <a:xfrm>
            <a:off x="20320" y="2032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7" name="矩形 296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571500" y="266700"/>
            <a:ext cx="2628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项目详细要求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智能机械臂垃圾分拣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571500" y="9144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CORE FEATURES · </a:t>
            </a:r>
            <a:r>
              <a:rPr lang="zh-CN" sz="10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基本功能</a:t>
            </a:r>
            <a:endParaRPr lang="zh-CN" sz="1050" b="1" spc="2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571500" y="11715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大必做功能，缺一不可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矩形 301"/>
          <p:cNvSpPr/>
          <p:nvPr/>
        </p:nvSpPr>
        <p:spPr>
          <a:xfrm>
            <a:off x="571500" y="1695450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03" name="圆角矩形 302"/>
          <p:cNvSpPr/>
          <p:nvPr>
            <p:custDataLst>
              <p:tags r:id="rId1"/>
            </p:custDataLst>
          </p:nvPr>
        </p:nvSpPr>
        <p:spPr>
          <a:xfrm>
            <a:off x="571500" y="1914525"/>
            <a:ext cx="5457825" cy="1838325"/>
          </a:xfrm>
          <a:prstGeom prst="roundRect">
            <a:avLst>
              <a:gd name="adj" fmla="val 31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4" name="圆角矩形 303"/>
          <p:cNvSpPr/>
          <p:nvPr>
            <p:custDataLst>
              <p:tags r:id="rId2"/>
            </p:custDataLst>
          </p:nvPr>
        </p:nvSpPr>
        <p:spPr>
          <a:xfrm>
            <a:off x="742950" y="208597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05" name="文本框 30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885825" y="2228850"/>
            <a:ext cx="247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F1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409700" y="2085975"/>
            <a:ext cx="4448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视觉识别</a:t>
            </a:r>
            <a:endParaRPr lang="zh-CN" sz="2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文本框 30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1409700" y="2555240"/>
            <a:ext cx="4448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认出</a:t>
            </a:r>
            <a:r>
              <a:rPr lang="en-US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垃圾</a:t>
            </a:r>
            <a:r>
              <a:rPr lang="en-US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给出像素坐标</a:t>
            </a:r>
            <a:endParaRPr lang="zh-CN" sz="16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圆角矩形 308"/>
          <p:cNvSpPr/>
          <p:nvPr>
            <p:custDataLst>
              <p:tags r:id="rId6"/>
            </p:custDataLst>
          </p:nvPr>
        </p:nvSpPr>
        <p:spPr>
          <a:xfrm>
            <a:off x="6162675" y="1914525"/>
            <a:ext cx="5457825" cy="1838325"/>
          </a:xfrm>
          <a:prstGeom prst="roundRect">
            <a:avLst>
              <a:gd name="adj" fmla="val 31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0" name="圆角矩形 309"/>
          <p:cNvSpPr/>
          <p:nvPr>
            <p:custDataLst>
              <p:tags r:id="rId7"/>
            </p:custDataLst>
          </p:nvPr>
        </p:nvSpPr>
        <p:spPr>
          <a:xfrm>
            <a:off x="6334125" y="208597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11" name="文本框 310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6477000" y="2228850"/>
            <a:ext cx="247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F2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7000875" y="2085975"/>
            <a:ext cx="4448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基于位置分拣</a:t>
            </a:r>
            <a:endParaRPr lang="zh-CN" sz="2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7000875" y="2462530"/>
            <a:ext cx="4448175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50000"/>
              </a:lnSpc>
            </a:pP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工作区内任意位置抓取（固定高度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>
            <p:custDataLst>
              <p:tags r:id="rId11"/>
            </p:custDataLst>
          </p:nvPr>
        </p:nvSpPr>
        <p:spPr>
          <a:xfrm>
            <a:off x="571500" y="3886200"/>
            <a:ext cx="5457825" cy="18288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6" name="圆角矩形 315"/>
          <p:cNvSpPr/>
          <p:nvPr>
            <p:custDataLst>
              <p:tags r:id="rId12"/>
            </p:custDataLst>
          </p:nvPr>
        </p:nvSpPr>
        <p:spPr>
          <a:xfrm>
            <a:off x="742950" y="4057650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17" name="文本框 316" descr="{&quot;isTemplate&quot;:true,&quot;type&quot;:&quot;text&quot;}"/>
          <p:cNvSpPr txBox="1"/>
          <p:nvPr>
            <p:custDataLst>
              <p:tags r:id="rId13"/>
            </p:custDataLst>
          </p:nvPr>
        </p:nvSpPr>
        <p:spPr>
          <a:xfrm>
            <a:off x="885825" y="4200525"/>
            <a:ext cx="247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F3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1409700" y="4057650"/>
            <a:ext cx="4448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管理看板</a:t>
            </a:r>
            <a:endParaRPr lang="zh-CN" sz="2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文本框 318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1409700" y="4457700"/>
            <a:ext cx="4448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上实时看分拣记录</a:t>
            </a:r>
            <a:endParaRPr lang="zh-CN" sz="16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圆角矩形 320"/>
          <p:cNvSpPr/>
          <p:nvPr>
            <p:custDataLst>
              <p:tags r:id="rId16"/>
            </p:custDataLst>
          </p:nvPr>
        </p:nvSpPr>
        <p:spPr>
          <a:xfrm>
            <a:off x="6162675" y="3886200"/>
            <a:ext cx="5457825" cy="18288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2" name="圆角矩形 321"/>
          <p:cNvSpPr/>
          <p:nvPr>
            <p:custDataLst>
              <p:tags r:id="rId17"/>
            </p:custDataLst>
          </p:nvPr>
        </p:nvSpPr>
        <p:spPr>
          <a:xfrm>
            <a:off x="6334125" y="4057650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23" name="文本框 322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6477000" y="4200525"/>
            <a:ext cx="247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F4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文本框 323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7000875" y="4057650"/>
            <a:ext cx="4448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兜底机制</a:t>
            </a:r>
            <a:endParaRPr lang="zh-CN" sz="2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文本框 324" descr="{&quot;isTemplate&quot;:true,&quot;type&quot;:&quot;text&quot;}"/>
          <p:cNvSpPr txBox="1"/>
          <p:nvPr>
            <p:custDataLst>
              <p:tags r:id="rId20"/>
            </p:custDataLst>
          </p:nvPr>
        </p:nvSpPr>
        <p:spPr>
          <a:xfrm>
            <a:off x="7000875" y="4469765"/>
            <a:ext cx="4448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r>
              <a:rPr lang="en-US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抓取失败的备用方案</a:t>
            </a:r>
            <a:endParaRPr lang="zh-CN" sz="16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矩形 330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332" name="任意多边形 331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571500" y="6610350"/>
            <a:ext cx="1457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软硬融合开题课</a:t>
            </a: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项目详细文档</a:t>
            </a:r>
            <a:endParaRPr lang="zh-CN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4" name="" descr="&lt;Slide padding={0}&gt;&#13;&#10;    &lt;Box style={{ width: '100%', height: '100%', position: 'relative', background: '#FFFFFF' }}&gt;&#13;&#10;        {/* Top bar */}&#13;&#10;        &lt;Box style={{ height: 72, width: '100%', background: '#0E3F8C', flexDirection: 'row', alignItems: 'center', justifyContent: 'space-between', padding: '0 60px' }}&gt;&#13;&#10;            &lt;Text style={{ fontSize: 18, color: '#E8EFF8', letterSpacing: 3 }}&gt;项目详细要求 · 智能机械臂垃圾分拣&lt;/Text&gt;&#13;&#10;            &lt;Text style={{ fontSize: 18, color: '#E8EFF8', letterSpacing: 2 }}&gt;08 / 14&lt;/Text&gt;&#13;&#10;        &lt;/Box&gt;&#13;&#10;&#13;&#10;        {/* Content */}&#13;&#10;        &lt;Box style={{ position: 'absolute', top: 96, left: 60, right: 60, bottom: 56, flexDirection: 'column' }}&gt;&#13;&#10;            &lt;Text style={{ fontSize: 18, color: '#1E4FA8', letterSpacing: 3, fontWeight: 'bold' }}&gt;ACCEPTANCE · 评审对照表&lt;/Text&gt;&#13;&#10;            &lt;Text style={{ fontSize: 33, color: '#0E3F8C', fontWeight: 'bold', marginTop: 10 }}&gt;基本功能验收标准汇总&lt;/Text&gt;&#13;&#10;            &lt;Text style={{ fontSize: 17, color: '#4A5568', marginTop: 6 }}&gt;4 大功能的可量化指标——评委拿按表对照打分&lt;/Text&gt;&#13;&#10;            &lt;Box style={{ width: 64, height: 3, background: '#1E4FA8', marginTop: 12 }} /&gt;&#13;&#10;&#13;&#10;            {/* Acceptance table */}&#13;&#10;            &lt;Box style={{ flex: 1, marginTop: 18, border: '1px solid #D6DCE5', borderRadius: 6, overflow: 'hidden' }}&gt;&#13;&#10;                {/* Header */}&#13;&#10;                &lt;Box style={{ flexDirection: 'row', background: '#0E3F8C', padding: '12px 16px' }}&gt;&#13;&#10;                    &lt;Text style={{ fontSize: 17, color: '#FFFFFF', fontWeight: 'bold', width: 104 }}&gt;功能&lt;/Text&gt;&#13;&#10;                    &lt;Text style={{ fontSize: 17, color: '#FFFFFF', fontWeight: 'bold', flex: 1.3 }}&gt;关键指标&lt;/Text&gt;&#13;&#10;                    &lt;Text style={{ fontSize: 17, color: '#FFFFFF', fontWeight: 'bold', flex: 1.3 }}&gt;合格线&lt;/Text&gt;&#13;&#10;                    &lt;Text style={{ fontSize: 17, color: '#FFFFFF', fontWeight: 'bold', flex: 0.6 }}&gt;权重&lt;/Text&gt;&#13;&#10;                &lt;/Box&gt;&#13;&#10;                {/* F1 */}&#13;&#10;                &lt;Box style={{ flexDirection: 'row', background: '#F7F9FC', padding: '12px 16px', borderTop: '1px solid #D6DCE5' }}&gt;&#13;&#10;                    &lt;Text style={{ fontSize: 17, color: '#0E3F8C', fontWeight: 'bold', width: 104 }}&gt;F1 视觉识别&lt;/Text&gt;&#13;&#10;                    &lt;Text style={{ fontSize: 17, color: '#4A5568', flex: 1.3, lineHeight: 1.35 }}&gt;mAP · 推理耗时 · 光照&lt;/Text&gt;&#13;&#10;                    &lt;Text style={{ fontSize: 17, color: '#1A2230', flex: 1.3, lineHeight: 1.35 }}&gt;≥0.70 · ≤200ms · ≥85%&lt;/Text&gt;&#13;&#10;                    &lt;Text style={{ fontSize: 17, color: '#1E4FA8', fontWeight: 'bold', flex: 0.6 }}&gt;15%&lt;/Text&gt;&#13;&#10;                &lt;/Box&gt;&#13;&#10;                {/* F2 */}&#13;&#10;                &lt;Box style={{ flexDirection: 'row', background: '#FFFFFF', padding: '12px 16px', borderTop: '1px solid #D6DCE5' }}&gt;&#13;&#10;                    &lt;Text style={{ fontSize: 17, color: '#0E3F8C', fontWeight: 'bold', width: 104 }}&gt;F2 任意分拣&lt;/Text&gt;&#13;&#10;                    &lt;Text style={{ fontSize: 17, color: '#4A5568', flex: 1.3, lineHeight: 1.35 }}&gt;工作区 · 成功率 · 周期&lt;/Text&gt;&#13;&#10;                    &lt;Text style={{ fontSize: 17, color: '#1A2230', flex: 1.3, lineHeight: 1.35 }}&gt;200×200 · ≥80% · ≤15s&lt;/Text&gt;&#13;&#10;                    &lt;Text style={{ fontSize: 17, color: '#1E4FA8', fontWeight: 'bold', flex: 0.6 }}&gt;25%&lt;/Text&gt;&#13;&#10;                &lt;/Box&gt;&#13;&#10;                {/* F3 */}&#13;&#10;                &lt;Box style={{ flexDirection: 'row', background: '#F7F9FC', padding: '12px 16px', borderTop: '1px solid #D6DCE5' }}&gt;&#13;&#10;                    &lt;Text style={{ fontSize: 17, color: '#0E3F8C', fontWeight: 'bold', width: 104 }}&gt;F3 管理看板&lt;/Text&gt;&#13;&#10;                    &lt;Text style={{ fontSize: 17, color: '#4A5568', flex: 1.3, lineHeight: 1.35 }}&gt;页面数 · 延迟 · 完整性&lt;/Text&gt;&#13;&#10;                    &lt;Text style={{ fontSize: 17, color: '#1A2230', flex: 1.3, lineHeight: 1.35 }}&gt;≥4页 · ≤1s · 字段全&lt;/Text&gt;&#13;&#10;                    &lt;Text style={{ fontSize: 17, color: '#1E4FA8', fontWeight: 'bold', flex: 0.6 }}&gt;15%&lt;/Text&gt;&#13;&#10;                &lt;/Box&gt;&#13;&#10;                {/* F4 */}&#13;&#10;                &lt;Box style={{ flexDirection: 'row', background: '#FFFFFF', padding: '12px 16px', borderTop: '1px solid #D6DCE5' }}&gt;&#13;&#10;                    &lt;Text style={{ fontSize: 17, color: '#0E3F8C', fontWeight: 'bold', width: 104 }}&gt;F4 兜底机制&lt;/Text&gt;&#13;&#10;                    &lt;Text style={{ fontSize: 17, color: '#4A5568', flex: 1.3, lineHeight: 1.35 }}&gt;成功率 · 响应 · 覆盖&lt;/Text&gt;&#13;&#10;                    &lt;Text style={{ fontSize: 17, color: '#1A2230', flex: 1.3, lineHeight: 1.35 }}&gt;≥90% · ≤3s · 4类全&lt;/Text&gt;&#13;&#10;                    &lt;Text style={{ fontSize: 17, color: '#1E4FA8', fontWeight: 'bold', flex: 0.6 }}&gt;15%&lt;/Text&gt;&#13;&#10;                &lt;/Box&gt;&#13;&#10;                {/* 软工基础 */}&#13;&#10;                &lt;Box style={{ flexDirection: 'row', background: '#F7F9FC', padding: '12px 16px', borderTop: '1px solid #D6DCE5' }}&gt;&#13;&#10;                    &lt;Text style={{ fontSize: 17, color: '#0E3F8C', fontWeight: 'bold', width: 104 }}&gt;软工基础&lt;/Text&gt;&#13;&#10;                    &lt;Text style={{ fontSize: 17, color: '#4A5568', flex: 1.3, lineHeight: 1.35 }}&gt;质量 · 测试 · Git · 文档&lt;/Text&gt;&#13;&#10;                    &lt;Text style={{ fontSize: 17, color: '#1A2230', flex: 1.3, lineHeight: 1.35 }}&gt;见 13 页软件要求&lt;/Text&gt;&#13;&#10;                    &lt;Text style={{ fontSize: 17, color: '#1E4FA8', fontWeight: 'bold', flex: 0.6 }}&gt;20%&lt;/Text&gt;&#13;&#10;                &lt;/Box&gt;&#13;&#10;                {/* 答辩 */}&#13;&#10;                &lt;Box style={{ flexDirection: 'row', background: '#FFFFFF', padding: '12px 16px', borderTop: '1px solid #D6DCE5' }}&gt;&#13;&#10;                    &lt;Text style={{ fontSize: 17, color: '#0E3F8C', fontWeight: 'bold', width: 104 }}&gt;答辩&lt;/Text&gt;&#13;&#10;                    &lt;Text style={{ fontSize: 17, color: '#4A5568', flex: 1.3, lineHeight: 1.35 }}&gt;完整度 · 问答表现&lt;/Text&gt;&#13;&#10;                    &lt;Text style={{ fontSize: 17, color: '#1A2230', flex: 1.3, lineHeight: 1.35 }}&gt;15min + 10min&lt;/Text&gt;&#13;&#10;                    &lt;Text style={{ fontSize: 17, color: '#1E4FA8', fontWeight: 'bold', flex: 0.6 }}&gt;10%&lt;/Text&gt;&#13;&#10;                &lt;/Box&gt;&#13;&#10;            &lt;/Box&gt;&#13;&#10;&#13;&#10;            {/* Bottom */}&#13;&#10;            &lt;Box style={{ marginTop: 12, padding: '10px 16px', background: '#F0F5FC', borderLeft: '4px solid #1E4FA8', borderRadius: 4 }}&gt;&#13;&#10;                &lt;Text style={{ fontSize: 17, color: '#1E4FA8', fontWeight: 'bold' }}&gt;说明：&lt;/Text&gt;&#13;&#10;                &lt;Text style={{ fontSize: 17, color: '#1A2230', marginLeft: 8 }}&gt;总成绩 = 4 项功能（70%）+ 软工基础（20%）+ 答辩（10%），满 100 分。任意一项功能缺失，整体最高 B。&lt;/Text&gt;&#13;&#10;            &lt;/Box&gt;&#13;&#10;        &lt;/Box&gt;&#13;&#10;&#13;&#10;        {/* Footer */}&#13;&#10;        &lt;Box style={{ position: 'absolute', bottom: 0, left: 0, right: 0, height: 40, background: '#F7F9FC', borderTop: '1px solid #D6DCE5', flexDirection: 'row', alignItems: 'center', justifyContent: 'space-between', padding: '0 60px' }}&gt;&#13;&#10;            &lt;Text style={{ fontSize: 17, color: '#8B97A8' }}&gt;软硬融合开题课 · 项目详细文档&lt;/Text&gt;&#13;&#10;            &lt;Text style={{ fontSize: 17, color: '#1E4FA8', fontWeight: 'bold' }}&gt;08 / 14&lt;/Text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矩形 5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46" name="矩形 545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571500" y="238125"/>
            <a:ext cx="3228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项目详细要求</a:t>
            </a:r>
            <a:r>
              <a:rPr lang="en-US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智能机械臂垃圾分拣</a:t>
            </a:r>
            <a:endParaRPr lang="zh-CN" sz="13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571500" y="914400"/>
            <a:ext cx="1104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ACCEPTANCE · </a:t>
            </a:r>
            <a:r>
              <a:rPr lang="zh-CN" sz="13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评审对照表</a:t>
            </a:r>
            <a:endParaRPr lang="zh-CN" sz="1350" b="1" spc="2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571500" y="1219200"/>
            <a:ext cx="110490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基本功能验收标准汇总</a:t>
            </a:r>
            <a:endParaRPr lang="zh-CN" sz="24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571500" y="1657350"/>
            <a:ext cx="1104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大功能的可量化指标——评委拿按表对照打分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2" name="矩形 551"/>
          <p:cNvSpPr/>
          <p:nvPr/>
        </p:nvSpPr>
        <p:spPr>
          <a:xfrm>
            <a:off x="571500" y="1971675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53" name="圆角矩形 552"/>
          <p:cNvSpPr/>
          <p:nvPr/>
        </p:nvSpPr>
        <p:spPr>
          <a:xfrm>
            <a:off x="571500" y="2171700"/>
            <a:ext cx="11049000" cy="3457575"/>
          </a:xfrm>
          <a:prstGeom prst="roundRect">
            <a:avLst>
              <a:gd name="adj" fmla="val 1653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4" name="任意多边形 553"/>
          <p:cNvSpPr/>
          <p:nvPr/>
        </p:nvSpPr>
        <p:spPr>
          <a:xfrm>
            <a:off x="571500" y="2171700"/>
            <a:ext cx="11049000" cy="428625"/>
          </a:xfrm>
          <a:custGeom>
            <a:avLst/>
            <a:gdLst/>
            <a:ahLst/>
            <a:cxnLst/>
            <a:pathLst>
              <a:path w="1160" h="45">
                <a:moveTo>
                  <a:pt x="1154" y="0"/>
                </a:moveTo>
                <a:cubicBezTo>
                  <a:pt x="1157" y="0"/>
                  <a:pt x="1160" y="3"/>
                  <a:pt x="1160" y="6"/>
                </a:cubicBezTo>
                <a:lnTo>
                  <a:pt x="1160" y="45"/>
                </a:lnTo>
                <a:lnTo>
                  <a:pt x="0" y="45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54" y="0"/>
                </a:lnTo>
                <a:close/>
              </a:path>
            </a:pathLst>
          </a:custGeom>
          <a:solidFill>
            <a:srgbClr val="0E3F8C"/>
          </a:solidFill>
        </p:spPr>
        <p:txBody>
          <a:bodyPr/>
          <a:p/>
        </p:txBody>
      </p:sp>
      <p:sp>
        <p:nvSpPr>
          <p:cNvPr id="555" name="文本框 554" descr="{&quot;isTemplate&quot;:true,&quot;type&quot;:&quot;text&quot;}"/>
          <p:cNvSpPr txBox="1"/>
          <p:nvPr/>
        </p:nvSpPr>
        <p:spPr>
          <a:xfrm>
            <a:off x="723900" y="2286000"/>
            <a:ext cx="990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3642360" y="2286000"/>
            <a:ext cx="39624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关键指标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7993380" y="2286000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权重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9" name="矩形 558"/>
          <p:cNvSpPr/>
          <p:nvPr/>
        </p:nvSpPr>
        <p:spPr>
          <a:xfrm>
            <a:off x="571500" y="2609850"/>
            <a:ext cx="11049000" cy="50482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60" name="任意多边形 559"/>
          <p:cNvSpPr/>
          <p:nvPr/>
        </p:nvSpPr>
        <p:spPr>
          <a:xfrm>
            <a:off x="571500" y="2600325"/>
            <a:ext cx="11049000" cy="514350"/>
          </a:xfrm>
          <a:custGeom>
            <a:avLst/>
            <a:gdLst/>
            <a:ahLst/>
            <a:cxnLst/>
            <a:pathLst>
              <a:path w="1160" h="54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723900" y="2724150"/>
            <a:ext cx="9906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F1 </a:t>
            </a: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视觉识别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3642360" y="2724150"/>
            <a:ext cx="3962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mAP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推理耗时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光照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7993380" y="2724150"/>
            <a:ext cx="18288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15%</a:t>
            </a:r>
            <a:endParaRPr lang="en-US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5" name="矩形 564"/>
          <p:cNvSpPr/>
          <p:nvPr/>
        </p:nvSpPr>
        <p:spPr>
          <a:xfrm>
            <a:off x="571500" y="3114675"/>
            <a:ext cx="11049000" cy="5048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66" name="任意多边形 565"/>
          <p:cNvSpPr/>
          <p:nvPr/>
        </p:nvSpPr>
        <p:spPr>
          <a:xfrm>
            <a:off x="571500" y="3105150"/>
            <a:ext cx="11049000" cy="514350"/>
          </a:xfrm>
          <a:custGeom>
            <a:avLst/>
            <a:gdLst/>
            <a:ahLst/>
            <a:cxnLst/>
            <a:pathLst>
              <a:path w="1160" h="54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567" name="文本框 566" descr="{&quot;isTemplate&quot;:true,&quot;type&quot;:&quot;text&quot;}"/>
          <p:cNvSpPr txBox="1"/>
          <p:nvPr/>
        </p:nvSpPr>
        <p:spPr>
          <a:xfrm>
            <a:off x="723900" y="3228975"/>
            <a:ext cx="9906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F2 </a:t>
            </a: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任意分拣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3642360" y="3228975"/>
            <a:ext cx="3962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工作区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成功率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7993380" y="3228975"/>
            <a:ext cx="18288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矩形 570"/>
          <p:cNvSpPr/>
          <p:nvPr/>
        </p:nvSpPr>
        <p:spPr>
          <a:xfrm>
            <a:off x="571500" y="3619500"/>
            <a:ext cx="11049000" cy="50482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72" name="任意多边形 571"/>
          <p:cNvSpPr/>
          <p:nvPr/>
        </p:nvSpPr>
        <p:spPr>
          <a:xfrm>
            <a:off x="571500" y="3609975"/>
            <a:ext cx="11049000" cy="514350"/>
          </a:xfrm>
          <a:custGeom>
            <a:avLst/>
            <a:gdLst/>
            <a:ahLst/>
            <a:cxnLst/>
            <a:pathLst>
              <a:path w="1160" h="54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723900" y="3733800"/>
            <a:ext cx="9906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F3 </a:t>
            </a: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管理看板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3642360" y="3733800"/>
            <a:ext cx="3962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页面数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延迟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完整性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7993380" y="3733800"/>
            <a:ext cx="18288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15%</a:t>
            </a:r>
            <a:endParaRPr lang="en-US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矩形 576"/>
          <p:cNvSpPr/>
          <p:nvPr/>
        </p:nvSpPr>
        <p:spPr>
          <a:xfrm>
            <a:off x="571500" y="4124325"/>
            <a:ext cx="11049000" cy="5048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78" name="任意多边形 577"/>
          <p:cNvSpPr/>
          <p:nvPr/>
        </p:nvSpPr>
        <p:spPr>
          <a:xfrm>
            <a:off x="571500" y="4114800"/>
            <a:ext cx="11049000" cy="514350"/>
          </a:xfrm>
          <a:custGeom>
            <a:avLst/>
            <a:gdLst/>
            <a:ahLst/>
            <a:cxnLst/>
            <a:pathLst>
              <a:path w="1160" h="54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579" name="文本框 578" descr="{&quot;isTemplate&quot;:true,&quot;type&quot;:&quot;text&quot;}"/>
          <p:cNvSpPr txBox="1"/>
          <p:nvPr/>
        </p:nvSpPr>
        <p:spPr>
          <a:xfrm>
            <a:off x="723900" y="4238625"/>
            <a:ext cx="9906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F4 </a:t>
            </a: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兜底机制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3642360" y="4238625"/>
            <a:ext cx="3962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成功率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响应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覆盖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7993380" y="4238625"/>
            <a:ext cx="18288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15%</a:t>
            </a:r>
            <a:endParaRPr lang="en-US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3" name="矩形 582"/>
          <p:cNvSpPr/>
          <p:nvPr/>
        </p:nvSpPr>
        <p:spPr>
          <a:xfrm>
            <a:off x="571500" y="4629150"/>
            <a:ext cx="11049000" cy="50482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84" name="任意多边形 583"/>
          <p:cNvSpPr/>
          <p:nvPr/>
        </p:nvSpPr>
        <p:spPr>
          <a:xfrm>
            <a:off x="571500" y="4619625"/>
            <a:ext cx="11049000" cy="514350"/>
          </a:xfrm>
          <a:custGeom>
            <a:avLst/>
            <a:gdLst/>
            <a:ahLst/>
            <a:cxnLst/>
            <a:pathLst>
              <a:path w="1160" h="54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723900" y="4743450"/>
            <a:ext cx="9906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软工基础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6" name="文本框 585" descr="{&quot;isTemplate&quot;:true,&quot;type&quot;:&quot;text&quot;}"/>
          <p:cNvSpPr txBox="1"/>
          <p:nvPr/>
        </p:nvSpPr>
        <p:spPr>
          <a:xfrm>
            <a:off x="3642360" y="4743450"/>
            <a:ext cx="3962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质量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Git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7993380" y="4743450"/>
            <a:ext cx="18288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20%</a:t>
            </a:r>
            <a:endParaRPr lang="en-US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9" name="任意多边形 588"/>
          <p:cNvSpPr/>
          <p:nvPr/>
        </p:nvSpPr>
        <p:spPr>
          <a:xfrm>
            <a:off x="571500" y="5133975"/>
            <a:ext cx="11049000" cy="504825"/>
          </a:xfrm>
          <a:custGeom>
            <a:avLst/>
            <a:gdLst/>
            <a:ahLst/>
            <a:cxnLst/>
            <a:pathLst>
              <a:path w="1160" h="53">
                <a:moveTo>
                  <a:pt x="1160" y="46"/>
                </a:moveTo>
                <a:cubicBezTo>
                  <a:pt x="1160" y="49"/>
                  <a:pt x="1157" y="52"/>
                  <a:pt x="1154" y="52"/>
                </a:cubicBezTo>
                <a:lnTo>
                  <a:pt x="6" y="52"/>
                </a:lnTo>
                <a:cubicBezTo>
                  <a:pt x="3" y="52"/>
                  <a:pt x="0" y="49"/>
                  <a:pt x="0" y="46"/>
                </a:cubicBezTo>
                <a:lnTo>
                  <a:pt x="0" y="0"/>
                </a:lnTo>
                <a:lnTo>
                  <a:pt x="11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/>
        </p:txBody>
      </p:sp>
      <p:sp>
        <p:nvSpPr>
          <p:cNvPr id="590" name="任意多边形 589"/>
          <p:cNvSpPr/>
          <p:nvPr/>
        </p:nvSpPr>
        <p:spPr>
          <a:xfrm>
            <a:off x="571500" y="5124450"/>
            <a:ext cx="11049000" cy="514350"/>
          </a:xfrm>
          <a:custGeom>
            <a:avLst/>
            <a:gdLst/>
            <a:ahLst/>
            <a:cxnLst/>
            <a:pathLst>
              <a:path w="1160" h="54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723900" y="5248275"/>
            <a:ext cx="9906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答辩</a:t>
            </a:r>
            <a:endParaRPr lang="zh-CN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3632200" y="5248275"/>
            <a:ext cx="3962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完整度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问答表现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7993380" y="5248275"/>
            <a:ext cx="18288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  <a:endParaRPr lang="en-US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0" name="任意多边形 599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571500" y="6572250"/>
            <a:ext cx="2247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软硬融合开题课</a:t>
            </a:r>
            <a:r>
              <a:rPr lang="en-US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项目详细文档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7" name="" descr="&lt;Slide padding={0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项目详细要求 · 智能机械臂垃圾分拣&lt;/Text&gt;&#10;            &lt;Text style={{ fontSize: 14, color: '#E8EFF8', letterSpacing: 2 }}&gt;09 / 14&lt;/Text&gt;&#10;        &lt;/Box&gt;&#10;&#10;        {/* Content */}&#10;        &lt;Box style={{ position: 'absolute', top: 96, left: 60, right: 60, bottom: 56, flexDirection: 'column' }}&gt;&#10;            &lt;Text style={{ fontSize: 14, color: '#1E4FA8', letterSpacing: 3, fontWeight: 'bold' }}&gt;EXTENDED FEATURES · 拓展功能&lt;/Text&gt;&#10;            &lt;Text style={{ fontSize: 32, color: '#0E3F8C', fontWeight: 'bold', marginTop: 10 }}&gt;6 项可选拓展：难度 × 价值矩阵&lt;/Text&gt;&#10;            &lt;Text style={{ fontSize: 13, color: '#4A5568', marginTop: 6 }}&gt;选 1–2 项做透，比&quot;全做但都浅&quot;更受评委认可&lt;/Text&gt;&#10;            &lt;Box style={{ width: 64, height: 3, background: '#1E4FA8', marginTop: 12 }} /&gt;&#10;&#10;            {/* 6 extensions in 2x3 grid */}&#10;            &lt;Box style={{ flex: 1, flexDirection: 'column', gap: 10, marginTop: 18 }}&gt;&#10;                {/* Row 1 */}&#10;                &lt;Box style={{ flex: 1, flexDirection: 'row', gap: 10 }}&gt;&#10;                    &lt;Box style={{ flex: 1, background: '#F7F9FC', border: '1px solid #D6DCE5', borderRadius: 6, padding: 14, flexDirection: 'column' }}&gt;&#10;                        &lt;Box style={{ flexDirection: 'row', alignItems: 'center' }}&gt;&#10;                            &lt;Text style={{ fontSize: 12, color: '#1E4FA8', fontWeight: 'bold', letterSpacing: 2 }}&gt;E1&lt;/Text&gt;&#10;                            &lt;Text style={{ fontSize: 14, color: '#0E3F8C', fontWeight: 'bold', marginLeft: 8 }}&gt;多仓位货仓&lt;/Text&gt;&#10;                            &lt;Box style={{ marginLeft: 'auto', background: '#E8F5EC', padding: '2px 8px', borderRadius: 4 }}&gt;&#10;                                &lt;Text style={{ fontSize: 10, color: '#1E7A3C', fontWeight: 'bold' }}&gt;★ 高价值&lt;/Text&gt;&#10;                            &lt;/Box&gt;&#10;                        &lt;/Box&gt;&#10;                        &lt;Text style={{ fontSize: 11, color: '#4A5568', marginTop: 6, lineHeight: 1.5 }}&gt;出入库统计 + 仓位图 + 仓位自动选择（按品类 × 容量）&lt;/Text&gt;&#10;                        &lt;Text style={{ fontSize: 11, color: '#1E4FA8', marginTop: 4 }}&gt;难度 ★★☆ · 与本项目主线一致&lt;/Text&gt;&#10;                    &lt;/Box&gt;&#10;                    &lt;Box style={{ flex: 1, background: '#F7F9FC', border: '1px solid #D6DCE5', borderRadius: 6, padding: 14, flexDirection: 'column' }}&gt;&#10;                        &lt;Box style={{ flexDirection: 'row', alignItems: 'center' }}&gt;&#10;                            &lt;Text style={{ fontSize: 12, color: '#1E4FA8', fontWeight: 'bold', letterSpacing: 2 }}&gt;E2&lt;/Text&gt;&#10;                            &lt;Text style={{ fontSize: 14, color: '#0E3F8C', fontWeight: 'bold', marginLeft: 8 }}&gt;手势识别纠错&lt;/Text&gt;&#10;                            &lt;Box style={{ marginLeft: 'auto', background: '#FFF6E5', padding: '2px 8px', borderRadius: 4 }}&gt;&#10;                                &lt;Text style={{ fontSize: 10, color: '#854F0B', fontWeight: 'bold' }}&gt;★ 中价值&lt;/Text&gt;&#10;                            &lt;/Box&gt;&#10;                        &lt;/Box&gt;&#10;                        &lt;Text style={{ fontSize: 11, color: '#4A5568', marginTop: 6, lineHeight: 1.5 }}&gt;用户手势触发分拣 / 暂停 / 纠错（MediaPipe Hands）&lt;/Text&gt;&#10;                        &lt;Text style={{ fontSize: 11, color: '#1E4FA8', marginTop: 4 }}&gt;难度 ★★☆ · 演示互动性强&lt;/Text&gt;&#10;                    &lt;/Box&gt;&#10;                    &lt;Box style={{ flex: 1, background: '#F7F9FC', border: '1px solid #D6DCE5', borderRadius: 6, padding: 14, flexDirection: 'column' }}&gt;&#10;                        &lt;Box style={{ flexDirection: 'row', alignItems: 'center' }}&gt;&#10;                            &lt;Text style={{ fontSize: 12, color: '#1E4FA8', fontWeight: 'bold', letterSpacing: 2 }}&gt;E3&lt;/Text&gt;&#10;                            &lt;Text style={{ fontSize: 14, color: '#0E3F8C', fontWeight: 'bold', marginLeft: 8 }}&gt;表情识别彩蛋&lt;/Text&gt;&#10;                            &lt;Box style={{ marginLeft: 'auto', background: '#FFEDED', padding: '2px 8px', borderRadius: 4 }}&gt;&#10;                                &lt;Text style={{ fontSize: 10, color: '#791F1F', fontWeight: 'bold' }}&gt;低价值&lt;/Text&gt;&#10;                            &lt;/Box&gt;&#10;                        &lt;/Box&gt;&#10;                        &lt;Text style={{ fontSize: 11, color: '#4A5568', marginTop: 6, lineHeight: 1.5 }}&gt;检测到笑脸时机械臂做一个互动动作（挥动/点头）&lt;/Text&gt;&#10;                        &lt;Text style={{ fontSize: 11, color: '#1E4FA8', marginTop: 4 }}&gt;难度 ★☆☆ · 锦上添花&lt;/Text&gt;&#10;                    &lt;/Box&gt;&#10;                &lt;/Box&gt;&#10;                {/* Row 2 */}&#10;                &lt;Box style={{ flex: 1, flexDirection: 'row', gap: 10 }}&gt;&#10;                    &lt;Box style={{ flex: 1, background: '#F7F9FC', border: '1px solid #D6DCE5', borderRadius: 6, padding: 14, flexDirection: 'column' }}&gt;&#10;                        &lt;Box style={{ flexDirection: 'row', alignItems: 'center' }}&gt;&#10;                            &lt;Text style={{ fontSize: 12, color: '#1E4FA8', fontWeight: 'bold', letterSpacing: 2 }}&gt;E4&lt;/Text&gt;&#10;                            &lt;Text style={{ fontSize: 14, color: '#0E3F8C', fontWeight: 'bold', marginLeft: 8 }}&gt;语音控制&lt;/Text&gt;&#10;                            &lt;Box style={{ marginLeft: 'auto', background: '#E8F5EC', padding: '2px 8px', borderRadius: 4 }}&gt;&#10;                                &lt;Text style={{ fontSize: 10, color: '#1E7A3C', fontWeight: 'bold' }}&gt;★ 高价值&lt;/Text&gt;&#10;                            &lt;/Box&gt;&#10;                        &lt;/Box&gt;&#10;                        &lt;Text style={{ fontSize: 11, color: '#4A5568', marginTop: 6, lineHeight: 1.5 }}&gt;&quot;帮我分类&quot;语音指令触发全流程（Whisper / 百度语音）&lt;/Text&gt;&#10;                        &lt;Text style={{ fontSize: 11, color: '#1E4FA8', marginTop: 4 }}&gt;难度 ★★★ · 演示很酷&lt;/Text&gt;&#10;                    &lt;/Box&gt;&#10;                    &lt;Box style={{ flex: 1, background: '#F7F9FC', border: '1px solid #D6DCE5', borderRadius: 6, padding: 14, flexDirection: 'column' }}&gt;&#10;                        &lt;Box style={{ flexDirection: 'row', alignItems: 'center' }}&gt;&#10;                            &lt;Text style={{ fontSize: 12, color: '#1E4FA8', fontWeight: 'bold', letterSpacing: 2 }}&gt;E5&lt;/Text&gt;&#10;                            &lt;Text style={{ fontSize: 14, color: '#0E3F8C', fontWeight: 'bold', marginLeft: 8 }}&gt;多机协同&lt;/Text&gt;&#10;                            &lt;Box style={{ marginLeft: 'auto', background: '#E8F5EC', padding: '2px 8px', borderRadius: 4 }}&gt;&#10;                                &lt;Text style={{ fontSize: 10, color: '#1E7A3C', fontWeight: 'bold' }}&gt;高价值（冲奖）&lt;/Text&gt;&#10;                            &lt;/Box&gt;&#10;                        &lt;/Box&gt;&#10;                        &lt;Text style={{ fontSize: 11, color: '#4A5568', marginTop: 6, lineHeight: 1.5 }}&gt;2 台机械臂分工：一台分拣，一台搬运/打包&lt;/Text&gt;&#10;                        &lt;Text style={{ fontSize: 11, color: '#1E4FA8', marginTop: 4 }}&gt;难度 ★★★★ · 资源要求翻倍&lt;/Text&gt;&#10;                    &lt;/Box&gt;&#10;                    &lt;Box style={{ flex: 1, background: '#F7F9FC', border: '1px solid #D6DCE5', borderRadius: 6, padding: 14, flexDirection: 'column' }}&gt;&#10;                        &lt;Box style={{ flexDirection: 'row', alignItems: 'center' }}&gt;&#10;                            &lt;Text style={{ fontSize: 12, color: '#1E4FA8', fontWeight: 'bold', letterSpacing: 2 }}&gt;E6&lt;/Text&gt;&#10;                            &lt;Text style={{ fontSize: 14, color: '#0E3F8C', fontWeight: 'bold', marginLeft: 8 }}&gt;大模型加持&lt;/Text&gt;&#10;                            &lt;Box style={{ marginLeft: 'auto', background: '#FFF6E5', padding: '2px 8px', borderRadius: 4 }}&gt;&#10;                                &lt;Text style={{ fontSize: 10, color: '#854F0B', fontWeight: 'bold' }}&gt;中价值（潮）&lt;/Text&gt;&#10;                            &lt;/Box&gt;&#10;                        &lt;/Box&gt;&#10;                        &lt;Text style={{ fontSize: 11, color: '#4A5568', marginTop: 6, lineHeight: 1.5 }}&gt;用 LLM 生成垃圾分类知识问答，作为看板的&quot;知识库&quot;&lt;/Text&gt;&#10;                        &lt;Text style={{ fontSize: 11, color: '#1E4FA8', marginTop: 4 }}&gt;难度 ★★☆ · API 调用为主&lt;/Text&gt;&#10;                    &lt;/Box&gt;&#10;                &lt;/Box&gt;&#10;            &lt;/Box&gt;&#10;&#10;            {/* Bottom */}&#10;            &lt;Box style={{ marginTop: 12, padding: '10px 16px', background: '#F0F5FC', borderLeft: '4px solid #1E4FA8', borderRadius: 4 }}&gt;&#10;                &lt;Text style={{ fontSize: 13, color: '#1E4FA8', fontWeight: 'bold' }}&gt;建议组合：&lt;/Text&gt;&#10;                &lt;Text style={{ fontSize: 13, color: '#1A2230', marginLeft: 8 }}&gt;保稳组（E1 多仓位）· 冲奖组（E1+E4+E5 多仓位+语音+多机）· 性价比组（E1+E2 多仓位+手势）&lt;/Text&gt;&#10;            &lt;/Box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 · 项目详细文档&lt;/Text&gt;&#10;            &lt;Text style={{ fontSize: 12, color: '#1E4FA8', fontWeight: 'bold' }}&gt;09 / 14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矩形 567"/>
          <p:cNvSpPr/>
          <p:nvPr/>
        </p:nvSpPr>
        <p:spPr>
          <a:xfrm>
            <a:off x="8890" y="20955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69" name="矩形 568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571500" y="266700"/>
            <a:ext cx="2628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项目详细要求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智能机械臂垃圾分拣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571500" y="9144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EXTENDED FEATURES · </a:t>
            </a:r>
            <a:r>
              <a:rPr lang="zh-CN" sz="1050" b="1" spc="2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拓展功能</a:t>
            </a:r>
            <a:endParaRPr lang="zh-CN" sz="1050" b="1" spc="2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571500" y="11715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可选拓展（</a:t>
            </a:r>
            <a:r>
              <a:rPr lang="en-US" alt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5" name="矩形 574"/>
          <p:cNvSpPr/>
          <p:nvPr/>
        </p:nvSpPr>
        <p:spPr>
          <a:xfrm>
            <a:off x="571500" y="1866900"/>
            <a:ext cx="6096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1" name="矩形 10"/>
          <p:cNvSpPr/>
          <p:nvPr/>
        </p:nvSpPr>
        <p:spPr>
          <a:xfrm>
            <a:off x="571500" y="2064385"/>
            <a:ext cx="8655050" cy="31489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EG</a:t>
            </a:r>
            <a:r>
              <a:rPr lang="zh-CN" altLang="en-US" sz="20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sz="20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20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sz="2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多机协同</a:t>
            </a:r>
            <a:endParaRPr lang="zh-CN" sz="2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 </a:t>
            </a:r>
            <a:r>
              <a:rPr lang="zh-CN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台机械臂分工：一台分拣，一台搬运</a:t>
            </a:r>
            <a:r>
              <a:rPr lang="en-US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打包</a:t>
            </a:r>
            <a:endParaRPr lang="zh-CN" sz="20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sz="2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表情识别彩蛋</a:t>
            </a:r>
            <a:endParaRPr lang="zh-CN" sz="2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检测到笑脸时机械臂做一个互动动作（挥动</a:t>
            </a:r>
            <a:r>
              <a:rPr lang="en-US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点头）</a:t>
            </a:r>
            <a:endParaRPr lang="zh-CN" sz="20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sz="2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 语音控制</a:t>
            </a:r>
            <a:endParaRPr lang="zh-CN" sz="2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"</a:t>
            </a:r>
            <a:r>
              <a:rPr lang="zh-CN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帮我分类</a:t>
            </a:r>
            <a:r>
              <a:rPr lang="en-US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"</a:t>
            </a:r>
            <a:r>
              <a:rPr lang="zh-CN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语音指令触发全流程（</a:t>
            </a:r>
            <a:r>
              <a:rPr lang="en-US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Whisper / </a:t>
            </a:r>
            <a:r>
              <a:rPr lang="zh-CN" sz="20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百度语音）</a:t>
            </a:r>
            <a:endParaRPr lang="zh-CN" sz="20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sz="20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sz="2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000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9765" y="5531485"/>
            <a:ext cx="8655050" cy="7200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000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8" name="" descr="&lt;Slide padding={0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项目详细要求 · 智能机械臂垃圾分拣&lt;/Text&gt;&#10;            &lt;Text style={{ fontSize: 14, color: '#E8EFF8', letterSpacing: 2 }}&gt;08 / 14&lt;/Text&gt;&#10;        &lt;/Box&gt;&#10;&#10;        {/* Content */}&#10;        &lt;Box style={{ position: 'absolute', top: 96, left: 60, right: 60, bottom: 56, flexDirection: 'column' }}&gt;&#10;            &lt;Text style={{ fontSize: 14, color: '#1E4FA8', letterSpacing: 3, fontWeight: 'bold' }}&gt;ACCEPTANCE · 评审对照表&lt;/Text&gt;&#10;            &lt;Text style={{ fontSize: 32, color: '#0E3F8C', fontWeight: 'bold', marginTop: 10 }}&gt;基本功能验收标准汇总&lt;/Text&gt;&#10;            &lt;Text style={{ fontSize: 13, color: '#4A5568', marginTop: 6 }}&gt;4 大功能的可量化指标——评委拿按表对照打分&lt;/Text&gt;&#10;            &lt;Box style={{ width: 64, height: 3, background: '#1E4FA8', marginTop: 12 }} /&gt;&#10;&#10;            {/* Acceptance table */}&#10;            &lt;Box style={{ flex: 1, marginTop: 18, border: '1px solid #D6DCE5', borderRadius: 6, overflow: 'hidden' }}&gt;&#10;                {/* Header */}&#10;                &lt;Box style={{ flexDirection: 'row', background: '#0E3F8C', padding: '12px 16px' }}&gt;&#10;                    &lt;Text style={{ fontSize: 13, color: '#FFFFFF', fontWeight: 'bold', width: 90 }}&gt;功能&lt;/Text&gt;&#10;                    &lt;Text style={{ fontSize: 13, color: '#FFFFFF', fontWeight: 'bold', flex: 1.6 }}&gt;关键指标&lt;/Text&gt;&#10;                    &lt;Text style={{ fontSize: 13, color: '#FFFFFF', fontWeight: 'bold', flex: 1 }}&gt;合格线&lt;/Text&gt;&#10;                    &lt;Text style={{ fontSize: 13, color: '#FFFFFF', fontWeight: 'bold', flex: 0.8 }}&gt;评审权重&lt;/Text&gt;&#10;                &lt;/Box&gt;&#10;                {/* F1 */}&#10;                &lt;Box style={{ flexDirection: 'row', background: '#F7F9FC', padding: '12px 16px', borderTop: '1px solid #D6DCE5' }}&gt;&#10;                    &lt;Text style={{ fontSize: 13, color: '#0E3F8C', fontWeight: 'bold', width: 90 }}&gt;F1 视觉识别&lt;/Text&gt;&#10;                    &lt;Text style={{ fontSize: 12, color: '#4A5568', flex: 1.6, lineHeight: 1.5 }}&gt;mAP@0.5 / 单帧推理 / 光照鲁棒&lt;/Text&gt;&#10;                    &lt;Text style={{ fontSize: 12, color: '#1A2230', flex: 1, lineHeight: 1.5 }}&gt;≥ 0.70 / ≤ 200ms / ≥ 85%&lt;/Text&gt;&#10;                    &lt;Text style={{ fontSize: 12, color: '#1E4FA8', fontWeight: 'bold', flex: 0.8 }}&gt;15%&lt;/Text&gt;&#10;                &lt;/Box&gt;&#10;                {/* F2 */}&#10;                &lt;Box style={{ flexDirection: 'row', background: '#FFFFFF', padding: '12px 16px', borderTop: '1px solid #D6DCE5' }}&gt;&#10;                    &lt;Text style={{ fontSize: 13, color: '#0E3F8C', fontWeight: 'bold', width: 90 }}&gt;F2 任意分拣&lt;/Text&gt;&#10;                    &lt;Text style={{ fontSize: 12, color: '#4A5568', flex: 1.6, lineHeight: 1.5 }}&gt;工作空间 / 抓取成功率 / 单次耗时&lt;/Text&gt;&#10;                    &lt;Text style={{ fontSize: 12, color: '#1A2230', flex: 1, lineHeight: 1.5 }}&gt;全工作空间 / ≥ 80% / ≤ 5s&lt;/Text&gt;&#10;                    &lt;Text style={{ fontSize: 12, color: '#1E4FA8', fontWeight: 'bold', flex: 0.8 }}&gt;25%&lt;/Text&gt;&#10;                &lt;/Box&gt;&#10;                {/* F3 */}&#10;                &lt;Box style={{ flexDirection: 'row', background: '#F7F9FC', padding: '12px 16px', borderTop: '1px solid #D6DCE5' }}&gt;&#10;                    &lt;Text style={{ fontSize: 13, color: '#0E3F8C', fontWeight: 'bold', width: 90 }}&gt;F3 管理看板&lt;/Text&gt;&#10;                    &lt;Text style={{ fontSize: 12, color: '#4A5568', flex: 1.6, lineHeight: 1.5 }}&gt;页面数 / 数据延迟 / 事件完整&lt;/Text&gt;&#10;                    &lt;Text style={{ fontSize: 12, color: '#1A2230', flex: 1, lineHeight: 1.5 }}&gt;≥ 4 页 / ≤ 1s / 100% 字段&lt;/Text&gt;&#10;                    &lt;Text style={{ fontSize: 12, color: '#1E4FA8', fontWeight: 'bold', flex: 0.8 }}&gt;15%&lt;/Text&gt;&#10;                &lt;/Box&gt;&#10;                {/* F4 */}&#10;                &lt;Box style={{ flexDirection: 'row', background: '#FFFFFF', padding: '12px 16px', borderTop: '1px solid #D6DCE5' }}&gt;&#10;                    &lt;Text style={{ fontSize: 13, color: '#0E3F8C', fontWeight: 'bold', width: 90 }}&gt;F4 兜底机制&lt;/Text&gt;&#10;                    &lt;Text style={{ fontSize: 12, color: '#4A5568', flex: 1.6, lineHeight: 1.5 }}&gt;演示成功率 / 兜底响应 / 异常覆盖&lt;/Text&gt;&#10;                    &lt;Text style={{ fontSize: 12, color: '#1A2230', flex: 1, lineHeight: 1.5 }}&gt;≥ 90% / ≤ 3s / 4 类全&lt;/Text&gt;&#10;                    &lt;Text style={{ fontSize: 12, color: '#1E4FA8', fontWeight: 'bold', flex: 0.8 }}&gt;15%&lt;/Text&gt;&#10;                &lt;/Box&gt;&#10;                {/* 软工基础 */}&#10;                &lt;Box style={{ flexDirection: 'row', background: '#F7F9FC', padding: '12px 16px', borderTop: '1px solid #D6DCE5' }}&gt;&#10;                    &lt;Text style={{ fontSize: 13, color: '#0E3F8C', fontWeight: 'bold', width: 90 }}&gt;软工基础&lt;/Text&gt;&#10;                    &lt;Text style={{ fontSize: 12, color: '#4A5568', flex: 1.6, lineHeight: 1.5 }}&gt;代码质量 / 测试 / Git / 文档&lt;/Text&gt;&#10;                    &lt;Text style={{ fontSize: 12, color: '#1A2230', flex: 1, lineHeight: 1.5 }}&gt;见&quot;软件要求&quot;页（13/14）&lt;/Text&gt;&#10;                    &lt;Text style={{ fontSize: 12, color: '#1E4FA8', fontWeight: 'bold', flex: 0.8 }}&gt;20%&lt;/Text&gt;&#10;                &lt;/Box&gt;&#10;                {/* 答辩 */}&#10;                &lt;Box style={{ flexDirection: 'row', background: '#FFFFFF', padding: '12px 16px', borderTop: '1px solid #D6DCE5' }}&gt;&#10;                    &lt;Text style={{ fontSize: 13, color: '#0E3F8C', fontWeight: 'bold', width: 90 }}&gt;答辩&lt;/Text&gt;&#10;                    &lt;Text style={{ fontSize: 12, color: '#4A5568', flex: 1.6, lineHeight: 1.5 }}&gt;演示完整度 / 问答表现&lt;/Text&gt;&#10;                    &lt;Text style={{ fontSize: 12, color: '#1A2230', flex: 1, lineHeight: 1.5 }}&gt;15min + 10min Q&amp;A&lt;/Text&gt;&#10;                    &lt;Text style={{ fontSize: 12, color: '#1E4FA8', fontWeight: 'bold', flex: 0.8 }}&gt;10%&lt;/Text&gt;&#10;                &lt;/Box&gt;&#10;            &lt;/Box&gt;&#10;&#10;            {/* Bottom */}&#10;            &lt;Box style={{ marginTop: 12, padding: '10px 16px', background: '#F0F5FC', borderLeft: '4px solid #1E4FA8', borderRadius: 4 }}&gt;&#10;                &lt;Text style={{ fontSize: 13, color: '#1E4FA8', fontWeight: 'bold' }}&gt;说明：&lt;/Text&gt;&#10;                &lt;Text style={{ fontSize: 13, color: '#1A2230', marginLeft: 8 }}&gt;总成绩 = 4 项功能（70%）+ 软工基础（20%）+ 答辩（10%），满 100 分。任意一项功能缺失，整体最高 B。&lt;/Text&gt;&#10;            &lt;/Box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 · 项目详细文档&lt;/Text&gt;&#10;            &lt;Text style={{ fontSize: 12, color: '#1E4FA8', fontWeight: 'bold' }}&gt;08 / 14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矩形 5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10" name="矩形 509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571500" y="96710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课程进度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安排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723900" y="2181225"/>
            <a:ext cx="857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1581150" y="2181225"/>
            <a:ext cx="4648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关键指标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6229350" y="2181225"/>
            <a:ext cx="2914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合格线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144000" y="2181225"/>
            <a:ext cx="2324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评审权重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矩形 528"/>
          <p:cNvSpPr/>
          <p:nvPr/>
        </p:nvSpPr>
        <p:spPr>
          <a:xfrm>
            <a:off x="571500" y="2905125"/>
            <a:ext cx="11049000" cy="4476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63" name="矩形 562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64" name="任意多边形 563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571500" y="266700"/>
            <a:ext cx="2247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智能硬件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815590" y="710565"/>
          <a:ext cx="6591300" cy="5948045"/>
        </p:xfrm>
        <a:graphic>
          <a:graphicData uri="http://schemas.openxmlformats.org/drawingml/2006/table">
            <a:tbl>
              <a:tblPr/>
              <a:tblGrid>
                <a:gridCol w="1379855"/>
                <a:gridCol w="1248410"/>
                <a:gridCol w="3963035"/>
              </a:tblGrid>
              <a:tr h="32766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周次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0421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9.11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介绍本课程的教学意义、课程目标，以及实训项目内容。学生对项目进行需求分析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9.18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需求评审与代码风格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660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9.25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产品详细设计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02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10.2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文档审查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660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10.9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查看每组项目进度、需求评审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10.16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单元测试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02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10.23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查看每组项目进度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10.30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查看每组项目进度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11.6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查看每组项目进度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11.13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学生分组进行中期展示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02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11.20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集成测试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660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11.27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系统测试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660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12.4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性能测试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12.11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非功能性测试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02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12.18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验收测试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660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12.25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结题答辩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8" name="" descr="&lt;Slide padding={0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项目详细要求 · 智能机械臂垃圾分拣&lt;/Text&gt;&#10;            &lt;Text style={{ fontSize: 14, color: '#E8EFF8', letterSpacing: 2 }}&gt;08 / 14&lt;/Text&gt;&#10;        &lt;/Box&gt;&#10;&#10;        {/* Content */}&#10;        &lt;Box style={{ position: 'absolute', top: 96, left: 60, right: 60, bottom: 56, flexDirection: 'column' }}&gt;&#10;            &lt;Text style={{ fontSize: 14, color: '#1E4FA8', letterSpacing: 3, fontWeight: 'bold' }}&gt;ACCEPTANCE · 评审对照表&lt;/Text&gt;&#10;            &lt;Text style={{ fontSize: 32, color: '#0E3F8C', fontWeight: 'bold', marginTop: 10 }}&gt;基本功能验收标准汇总&lt;/Text&gt;&#10;            &lt;Text style={{ fontSize: 13, color: '#4A5568', marginTop: 6 }}&gt;4 大功能的可量化指标——评委拿按表对照打分&lt;/Text&gt;&#10;            &lt;Box style={{ width: 64, height: 3, background: '#1E4FA8', marginTop: 12 }} /&gt;&#10;&#10;            {/* Acceptance table */}&#10;            &lt;Box style={{ flex: 1, marginTop: 18, border: '1px solid #D6DCE5', borderRadius: 6, overflow: 'hidden' }}&gt;&#10;                {/* Header */}&#10;                &lt;Box style={{ flexDirection: 'row', background: '#0E3F8C', padding: '12px 16px' }}&gt;&#10;                    &lt;Text style={{ fontSize: 13, color: '#FFFFFF', fontWeight: 'bold', width: 90 }}&gt;功能&lt;/Text&gt;&#10;                    &lt;Text style={{ fontSize: 13, color: '#FFFFFF', fontWeight: 'bold', flex: 1.6 }}&gt;关键指标&lt;/Text&gt;&#10;                    &lt;Text style={{ fontSize: 13, color: '#FFFFFF', fontWeight: 'bold', flex: 1 }}&gt;合格线&lt;/Text&gt;&#10;                    &lt;Text style={{ fontSize: 13, color: '#FFFFFF', fontWeight: 'bold', flex: 0.8 }}&gt;评审权重&lt;/Text&gt;&#10;                &lt;/Box&gt;&#10;                {/* F1 */}&#10;                &lt;Box style={{ flexDirection: 'row', background: '#F7F9FC', padding: '12px 16px', borderTop: '1px solid #D6DCE5' }}&gt;&#10;                    &lt;Text style={{ fontSize: 13, color: '#0E3F8C', fontWeight: 'bold', width: 90 }}&gt;F1 视觉识别&lt;/Text&gt;&#10;                    &lt;Text style={{ fontSize: 12, color: '#4A5568', flex: 1.6, lineHeight: 1.5 }}&gt;mAP@0.5 / 单帧推理 / 光照鲁棒&lt;/Text&gt;&#10;                    &lt;Text style={{ fontSize: 12, color: '#1A2230', flex: 1, lineHeight: 1.5 }}&gt;≥ 0.70 / ≤ 200ms / ≥ 85%&lt;/Text&gt;&#10;                    &lt;Text style={{ fontSize: 12, color: '#1E4FA8', fontWeight: 'bold', flex: 0.8 }}&gt;15%&lt;/Text&gt;&#10;                &lt;/Box&gt;&#10;                {/* F2 */}&#10;                &lt;Box style={{ flexDirection: 'row', background: '#FFFFFF', padding: '12px 16px', borderTop: '1px solid #D6DCE5' }}&gt;&#10;                    &lt;Text style={{ fontSize: 13, color: '#0E3F8C', fontWeight: 'bold', width: 90 }}&gt;F2 任意分拣&lt;/Text&gt;&#10;                    &lt;Text style={{ fontSize: 12, color: '#4A5568', flex: 1.6, lineHeight: 1.5 }}&gt;工作空间 / 抓取成功率 / 单次耗时&lt;/Text&gt;&#10;                    &lt;Text style={{ fontSize: 12, color: '#1A2230', flex: 1, lineHeight: 1.5 }}&gt;全工作空间 / ≥ 80% / ≤ 5s&lt;/Text&gt;&#10;                    &lt;Text style={{ fontSize: 12, color: '#1E4FA8', fontWeight: 'bold', flex: 0.8 }}&gt;25%&lt;/Text&gt;&#10;                &lt;/Box&gt;&#10;                {/* F3 */}&#10;                &lt;Box style={{ flexDirection: 'row', background: '#F7F9FC', padding: '12px 16px', borderTop: '1px solid #D6DCE5' }}&gt;&#10;                    &lt;Text style={{ fontSize: 13, color: '#0E3F8C', fontWeight: 'bold', width: 90 }}&gt;F3 管理看板&lt;/Text&gt;&#10;                    &lt;Text style={{ fontSize: 12, color: '#4A5568', flex: 1.6, lineHeight: 1.5 }}&gt;页面数 / 数据延迟 / 事件完整&lt;/Text&gt;&#10;                    &lt;Text style={{ fontSize: 12, color: '#1A2230', flex: 1, lineHeight: 1.5 }}&gt;≥ 4 页 / ≤ 1s / 100% 字段&lt;/Text&gt;&#10;                    &lt;Text style={{ fontSize: 12, color: '#1E4FA8', fontWeight: 'bold', flex: 0.8 }}&gt;15%&lt;/Text&gt;&#10;                &lt;/Box&gt;&#10;                {/* F4 */}&#10;                &lt;Box style={{ flexDirection: 'row', background: '#FFFFFF', padding: '12px 16px', borderTop: '1px solid #D6DCE5' }}&gt;&#10;                    &lt;Text style={{ fontSize: 13, color: '#0E3F8C', fontWeight: 'bold', width: 90 }}&gt;F4 兜底机制&lt;/Text&gt;&#10;                    &lt;Text style={{ fontSize: 12, color: '#4A5568', flex: 1.6, lineHeight: 1.5 }}&gt;演示成功率 / 兜底响应 / 异常覆盖&lt;/Text&gt;&#10;                    &lt;Text style={{ fontSize: 12, color: '#1A2230', flex: 1, lineHeight: 1.5 }}&gt;≥ 90% / ≤ 3s / 4 类全&lt;/Text&gt;&#10;                    &lt;Text style={{ fontSize: 12, color: '#1E4FA8', fontWeight: 'bold', flex: 0.8 }}&gt;15%&lt;/Text&gt;&#10;                &lt;/Box&gt;&#10;                {/* 软工基础 */}&#10;                &lt;Box style={{ flexDirection: 'row', background: '#F7F9FC', padding: '12px 16px', borderTop: '1px solid #D6DCE5' }}&gt;&#10;                    &lt;Text style={{ fontSize: 13, color: '#0E3F8C', fontWeight: 'bold', width: 90 }}&gt;软工基础&lt;/Text&gt;&#10;                    &lt;Text style={{ fontSize: 12, color: '#4A5568', flex: 1.6, lineHeight: 1.5 }}&gt;代码质量 / 测试 / Git / 文档&lt;/Text&gt;&#10;                    &lt;Text style={{ fontSize: 12, color: '#1A2230', flex: 1, lineHeight: 1.5 }}&gt;见&quot;软件要求&quot;页（13/14）&lt;/Text&gt;&#10;                    &lt;Text style={{ fontSize: 12, color: '#1E4FA8', fontWeight: 'bold', flex: 0.8 }}&gt;20%&lt;/Text&gt;&#10;                &lt;/Box&gt;&#10;                {/* 答辩 */}&#10;                &lt;Box style={{ flexDirection: 'row', background: '#FFFFFF', padding: '12px 16px', borderTop: '1px solid #D6DCE5' }}&gt;&#10;                    &lt;Text style={{ fontSize: 13, color: '#0E3F8C', fontWeight: 'bold', width: 90 }}&gt;答辩&lt;/Text&gt;&#10;                    &lt;Text style={{ fontSize: 12, color: '#4A5568', flex: 1.6, lineHeight: 1.5 }}&gt;演示完整度 / 问答表现&lt;/Text&gt;&#10;                    &lt;Text style={{ fontSize: 12, color: '#1A2230', flex: 1, lineHeight: 1.5 }}&gt;15min + 10min Q&amp;A&lt;/Text&gt;&#10;                    &lt;Text style={{ fontSize: 12, color: '#1E4FA8', fontWeight: 'bold', flex: 0.8 }}&gt;10%&lt;/Text&gt;&#10;                &lt;/Box&gt;&#10;            &lt;/Box&gt;&#10;&#10;            {/* Bottom */}&#10;            &lt;Box style={{ marginTop: 12, padding: '10px 16px', background: '#F0F5FC', borderLeft: '4px solid #1E4FA8', borderRadius: 4 }}&gt;&#10;                &lt;Text style={{ fontSize: 13, color: '#1E4FA8', fontWeight: 'bold' }}&gt;说明：&lt;/Text&gt;&#10;                &lt;Text style={{ fontSize: 13, color: '#1A2230', marginLeft: 8 }}&gt;总成绩 = 4 项功能（70%）+ 软工基础（20%）+ 答辩（10%），满 100 分。任意一项功能缺失，整体最高 B。&lt;/Text&gt;&#10;            &lt;/Box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 · 项目详细文档&lt;/Text&gt;&#10;            &lt;Text style={{ fontSize: 12, color: '#1E4FA8', fontWeight: 'bold' }}&gt;08 / 14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矩形 5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10" name="矩形 509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419100" y="96710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考核方式</a:t>
            </a:r>
            <a:endParaRPr lang="zh-CN" altLang="en-US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723900" y="2181225"/>
            <a:ext cx="857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1581150" y="2181225"/>
            <a:ext cx="4648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关键指标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6229350" y="2181225"/>
            <a:ext cx="2914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合格线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144000" y="2181225"/>
            <a:ext cx="2324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评审权重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矩形 528"/>
          <p:cNvSpPr/>
          <p:nvPr/>
        </p:nvSpPr>
        <p:spPr>
          <a:xfrm>
            <a:off x="571500" y="2905125"/>
            <a:ext cx="11049000" cy="4476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63" name="矩形 562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64" name="任意多边形 563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2" name="文本框 1" descr="{&quot;isTemplate&quot;:true,&quot;type&quot;:&quot;text&quot;}"/>
          <p:cNvSpPr txBox="1"/>
          <p:nvPr/>
        </p:nvSpPr>
        <p:spPr>
          <a:xfrm>
            <a:off x="571500" y="266700"/>
            <a:ext cx="2247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智能硬件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71500" y="1983740"/>
          <a:ext cx="8253730" cy="3195955"/>
        </p:xfrm>
        <a:graphic>
          <a:graphicData uri="http://schemas.openxmlformats.org/drawingml/2006/table">
            <a:tbl>
              <a:tblPr/>
              <a:tblGrid>
                <a:gridCol w="2593340"/>
                <a:gridCol w="2773680"/>
                <a:gridCol w="2886710"/>
              </a:tblGrid>
              <a:tr h="873125"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课程成绩构成及比例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考核环节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139190">
                <a:tc>
                  <a:txBody>
                    <a:bodyPr/>
                    <a:p>
                      <a:pPr algn="just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项目文档、工具及协作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20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分，占总评成绩的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20%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项目文档、设计工具、沟通方法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需求分析与项目确认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团队协作</a:t>
                      </a:r>
                      <a:b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工具使用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3640">
                <a:tc>
                  <a:txBody>
                    <a:bodyPr/>
                    <a:p>
                      <a:pPr algn="just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项目实践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80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分，占总评成绩的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80%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系统设计与测试实践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系统设计实践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b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软件测试实践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8" name="" descr="&lt;Slide padding={0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项目详细要求 · 智能机械臂垃圾分拣&lt;/Text&gt;&#10;            &lt;Text style={{ fontSize: 14, color: '#E8EFF8', letterSpacing: 2 }}&gt;08 / 14&lt;/Text&gt;&#10;        &lt;/Box&gt;&#10;&#10;        {/* Content */}&#10;        &lt;Box style={{ position: 'absolute', top: 96, left: 60, right: 60, bottom: 56, flexDirection: 'column' }}&gt;&#10;            &lt;Text style={{ fontSize: 14, color: '#1E4FA8', letterSpacing: 3, fontWeight: 'bold' }}&gt;ACCEPTANCE · 评审对照表&lt;/Text&gt;&#10;            &lt;Text style={{ fontSize: 32, color: '#0E3F8C', fontWeight: 'bold', marginTop: 10 }}&gt;基本功能验收标准汇总&lt;/Text&gt;&#10;            &lt;Text style={{ fontSize: 13, color: '#4A5568', marginTop: 6 }}&gt;4 大功能的可量化指标——评委拿按表对照打分&lt;/Text&gt;&#10;            &lt;Box style={{ width: 64, height: 3, background: '#1E4FA8', marginTop: 12 }} /&gt;&#10;&#10;            {/* Acceptance table */}&#10;            &lt;Box style={{ flex: 1, marginTop: 18, border: '1px solid #D6DCE5', borderRadius: 6, overflow: 'hidden' }}&gt;&#10;                {/* Header */}&#10;                &lt;Box style={{ flexDirection: 'row', background: '#0E3F8C', padding: '12px 16px' }}&gt;&#10;                    &lt;Text style={{ fontSize: 13, color: '#FFFFFF', fontWeight: 'bold', width: 90 }}&gt;功能&lt;/Text&gt;&#10;                    &lt;Text style={{ fontSize: 13, color: '#FFFFFF', fontWeight: 'bold', flex: 1.6 }}&gt;关键指标&lt;/Text&gt;&#10;                    &lt;Text style={{ fontSize: 13, color: '#FFFFFF', fontWeight: 'bold', flex: 1 }}&gt;合格线&lt;/Text&gt;&#10;                    &lt;Text style={{ fontSize: 13, color: '#FFFFFF', fontWeight: 'bold', flex: 0.8 }}&gt;评审权重&lt;/Text&gt;&#10;                &lt;/Box&gt;&#10;                {/* F1 */}&#10;                &lt;Box style={{ flexDirection: 'row', background: '#F7F9FC', padding: '12px 16px', borderTop: '1px solid #D6DCE5' }}&gt;&#10;                    &lt;Text style={{ fontSize: 13, color: '#0E3F8C', fontWeight: 'bold', width: 90 }}&gt;F1 视觉识别&lt;/Text&gt;&#10;                    &lt;Text style={{ fontSize: 12, color: '#4A5568', flex: 1.6, lineHeight: 1.5 }}&gt;mAP@0.5 / 单帧推理 / 光照鲁棒&lt;/Text&gt;&#10;                    &lt;Text style={{ fontSize: 12, color: '#1A2230', flex: 1, lineHeight: 1.5 }}&gt;≥ 0.70 / ≤ 200ms / ≥ 85%&lt;/Text&gt;&#10;                    &lt;Text style={{ fontSize: 12, color: '#1E4FA8', fontWeight: 'bold', flex: 0.8 }}&gt;15%&lt;/Text&gt;&#10;                &lt;/Box&gt;&#10;                {/* F2 */}&#10;                &lt;Box style={{ flexDirection: 'row', background: '#FFFFFF', padding: '12px 16px', borderTop: '1px solid #D6DCE5' }}&gt;&#10;                    &lt;Text style={{ fontSize: 13, color: '#0E3F8C', fontWeight: 'bold', width: 90 }}&gt;F2 任意分拣&lt;/Text&gt;&#10;                    &lt;Text style={{ fontSize: 12, color: '#4A5568', flex: 1.6, lineHeight: 1.5 }}&gt;工作空间 / 抓取成功率 / 单次耗时&lt;/Text&gt;&#10;                    &lt;Text style={{ fontSize: 12, color: '#1A2230', flex: 1, lineHeight: 1.5 }}&gt;全工作空间 / ≥ 80% / ≤ 5s&lt;/Text&gt;&#10;                    &lt;Text style={{ fontSize: 12, color: '#1E4FA8', fontWeight: 'bold', flex: 0.8 }}&gt;25%&lt;/Text&gt;&#10;                &lt;/Box&gt;&#10;                {/* F3 */}&#10;                &lt;Box style={{ flexDirection: 'row', background: '#F7F9FC', padding: '12px 16px', borderTop: '1px solid #D6DCE5' }}&gt;&#10;                    &lt;Text style={{ fontSize: 13, color: '#0E3F8C', fontWeight: 'bold', width: 90 }}&gt;F3 管理看板&lt;/Text&gt;&#10;                    &lt;Text style={{ fontSize: 12, color: '#4A5568', flex: 1.6, lineHeight: 1.5 }}&gt;页面数 / 数据延迟 / 事件完整&lt;/Text&gt;&#10;                    &lt;Text style={{ fontSize: 12, color: '#1A2230', flex: 1, lineHeight: 1.5 }}&gt;≥ 4 页 / ≤ 1s / 100% 字段&lt;/Text&gt;&#10;                    &lt;Text style={{ fontSize: 12, color: '#1E4FA8', fontWeight: 'bold', flex: 0.8 }}&gt;15%&lt;/Text&gt;&#10;                &lt;/Box&gt;&#10;                {/* F4 */}&#10;                &lt;Box style={{ flexDirection: 'row', background: '#FFFFFF', padding: '12px 16px', borderTop: '1px solid #D6DCE5' }}&gt;&#10;                    &lt;Text style={{ fontSize: 13, color: '#0E3F8C', fontWeight: 'bold', width: 90 }}&gt;F4 兜底机制&lt;/Text&gt;&#10;                    &lt;Text style={{ fontSize: 12, color: '#4A5568', flex: 1.6, lineHeight: 1.5 }}&gt;演示成功率 / 兜底响应 / 异常覆盖&lt;/Text&gt;&#10;                    &lt;Text style={{ fontSize: 12, color: '#1A2230', flex: 1, lineHeight: 1.5 }}&gt;≥ 90% / ≤ 3s / 4 类全&lt;/Text&gt;&#10;                    &lt;Text style={{ fontSize: 12, color: '#1E4FA8', fontWeight: 'bold', flex: 0.8 }}&gt;15%&lt;/Text&gt;&#10;                &lt;/Box&gt;&#10;                {/* 软工基础 */}&#10;                &lt;Box style={{ flexDirection: 'row', background: '#F7F9FC', padding: '12px 16px', borderTop: '1px solid #D6DCE5' }}&gt;&#10;                    &lt;Text style={{ fontSize: 13, color: '#0E3F8C', fontWeight: 'bold', width: 90 }}&gt;软工基础&lt;/Text&gt;&#10;                    &lt;Text style={{ fontSize: 12, color: '#4A5568', flex: 1.6, lineHeight: 1.5 }}&gt;代码质量 / 测试 / Git / 文档&lt;/Text&gt;&#10;                    &lt;Text style={{ fontSize: 12, color: '#1A2230', flex: 1, lineHeight: 1.5 }}&gt;见&quot;软件要求&quot;页（13/14）&lt;/Text&gt;&#10;                    &lt;Text style={{ fontSize: 12, color: '#1E4FA8', fontWeight: 'bold', flex: 0.8 }}&gt;20%&lt;/Text&gt;&#10;                &lt;/Box&gt;&#10;                {/* 答辩 */}&#10;                &lt;Box style={{ flexDirection: 'row', background: '#FFFFFF', padding: '12px 16px', borderTop: '1px solid #D6DCE5' }}&gt;&#10;                    &lt;Text style={{ fontSize: 13, color: '#0E3F8C', fontWeight: 'bold', width: 90 }}&gt;答辩&lt;/Text&gt;&#10;                    &lt;Text style={{ fontSize: 12, color: '#4A5568', flex: 1.6, lineHeight: 1.5 }}&gt;演示完整度 / 问答表现&lt;/Text&gt;&#10;                    &lt;Text style={{ fontSize: 12, color: '#1A2230', flex: 1, lineHeight: 1.5 }}&gt;15min + 10min Q&amp;A&lt;/Text&gt;&#10;                    &lt;Text style={{ fontSize: 12, color: '#1E4FA8', fontWeight: 'bold', flex: 0.8 }}&gt;10%&lt;/Text&gt;&#10;                &lt;/Box&gt;&#10;            &lt;/Box&gt;&#10;&#10;            {/* Bottom */}&#10;            &lt;Box style={{ marginTop: 12, padding: '10px 16px', background: '#F0F5FC', borderLeft: '4px solid #1E4FA8', borderRadius: 4 }}&gt;&#10;                &lt;Text style={{ fontSize: 13, color: '#1E4FA8', fontWeight: 'bold' }}&gt;说明：&lt;/Text&gt;&#10;                &lt;Text style={{ fontSize: 13, color: '#1A2230', marginLeft: 8 }}&gt;总成绩 = 4 项功能（70%）+ 软工基础（20%）+ 答辩（10%），满 100 分。任意一项功能缺失，整体最高 B。&lt;/Text&gt;&#10;            &lt;/Box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 · 项目详细文档&lt;/Text&gt;&#10;            &lt;Text style={{ fontSize: 12, color: '#1E4FA8', fontWeight: 'bold' }}&gt;08 / 14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矩形 5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10" name="矩形 509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571500" y="96710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其他要求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723900" y="2181225"/>
            <a:ext cx="857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1581150" y="2181225"/>
            <a:ext cx="4648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关键指标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6229350" y="2181225"/>
            <a:ext cx="2914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合格线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144000" y="2181225"/>
            <a:ext cx="2324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评审权重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矩形 528"/>
          <p:cNvSpPr/>
          <p:nvPr/>
        </p:nvSpPr>
        <p:spPr>
          <a:xfrm>
            <a:off x="571500" y="2905125"/>
            <a:ext cx="11049000" cy="4476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63" name="矩形 562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571500" y="266700"/>
            <a:ext cx="2247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智能硬件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 descr="{&quot;isTemplate&quot;:true,&quot;type&quot;:&quot;text&quot;}"/>
          <p:cNvSpPr txBox="1"/>
          <p:nvPr/>
        </p:nvSpPr>
        <p:spPr>
          <a:xfrm>
            <a:off x="571500" y="1637665"/>
            <a:ext cx="11049000" cy="452818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三次不到取消成绩，一次考勤不到总分扣3分，二次不到再扣5分</a:t>
            </a:r>
            <a:endParaRPr lang="zh-CN" altLang="en-US" sz="2400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</a:pPr>
            <a:endParaRPr lang="zh-CN" altLang="en-US" sz="2400" i="0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400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2400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机械臂领取时间：</a:t>
            </a:r>
            <a:endParaRPr lang="zh-CN" altLang="en-US" sz="2400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400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  </a:t>
            </a:r>
            <a:r>
              <a:rPr lang="zh-CN" altLang="en-US" sz="2400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上课当天</a:t>
            </a:r>
            <a:r>
              <a:rPr lang="en-US" altLang="zh-CN" sz="2400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13:45-14:00</a:t>
            </a:r>
            <a:endParaRPr lang="en-US" altLang="zh-CN" sz="2400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</a:pPr>
            <a:endParaRPr lang="zh-CN" altLang="en-US" sz="24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4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24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项目：</a:t>
            </a:r>
            <a:r>
              <a:rPr lang="en-US" altLang="zh-CN" sz="24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 3-4 </a:t>
            </a:r>
            <a:r>
              <a:rPr lang="zh-CN" altLang="en-US" sz="24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 lang="zh-CN" altLang="en-US" sz="24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一组</a:t>
            </a:r>
            <a:endParaRPr lang="zh-CN" altLang="en-US" sz="24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endParaRPr lang="zh-CN" altLang="en-US" sz="24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4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altLang="en-US" sz="24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不要</a:t>
            </a:r>
            <a:r>
              <a:rPr lang="zh-CN" altLang="en-US" sz="24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抄袭！</a:t>
            </a:r>
            <a:endParaRPr lang="zh-CN" altLang="en-US" sz="24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endParaRPr lang="zh-CN" altLang="en-US" sz="24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en-US" alt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8" name="" descr="&lt;Slide padding={0}&gt;&#10;    &lt;Box style={{ width: '100%', height: '100%', position: 'relative', background: '#FFFFFF' }}&gt;&#10;        {/* Top bar */}&#10;        &lt;Box style={{ height: 72, width: '100%', background: '#0E3F8C', flexDirection: 'row', alignItems: 'center', justifyContent: 'space-between', padding: '0 60px' }}&gt;&#10;            &lt;Text style={{ fontSize: 14, color: '#E8EFF8', letterSpacing: 3 }}&gt;项目详细要求 · 智能机械臂垃圾分拣&lt;/Text&gt;&#10;            &lt;Text style={{ fontSize: 14, color: '#E8EFF8', letterSpacing: 2 }}&gt;08 / 14&lt;/Text&gt;&#10;        &lt;/Box&gt;&#10;&#10;        {/* Content */}&#10;        &lt;Box style={{ position: 'absolute', top: 96, left: 60, right: 60, bottom: 56, flexDirection: 'column' }}&gt;&#10;            &lt;Text style={{ fontSize: 14, color: '#1E4FA8', letterSpacing: 3, fontWeight: 'bold' }}&gt;ACCEPTANCE · 评审对照表&lt;/Text&gt;&#10;            &lt;Text style={{ fontSize: 32, color: '#0E3F8C', fontWeight: 'bold', marginTop: 10 }}&gt;基本功能验收标准汇总&lt;/Text&gt;&#10;            &lt;Text style={{ fontSize: 13, color: '#4A5568', marginTop: 6 }}&gt;4 大功能的可量化指标——评委拿按表对照打分&lt;/Text&gt;&#10;            &lt;Box style={{ width: 64, height: 3, background: '#1E4FA8', marginTop: 12 }} /&gt;&#10;&#10;            {/* Acceptance table */}&#10;            &lt;Box style={{ flex: 1, marginTop: 18, border: '1px solid #D6DCE5', borderRadius: 6, overflow: 'hidden' }}&gt;&#10;                {/* Header */}&#10;                &lt;Box style={{ flexDirection: 'row', background: '#0E3F8C', padding: '12px 16px' }}&gt;&#10;                    &lt;Text style={{ fontSize: 13, color: '#FFFFFF', fontWeight: 'bold', width: 90 }}&gt;功能&lt;/Text&gt;&#10;                    &lt;Text style={{ fontSize: 13, color: '#FFFFFF', fontWeight: 'bold', flex: 1.6 }}&gt;关键指标&lt;/Text&gt;&#10;                    &lt;Text style={{ fontSize: 13, color: '#FFFFFF', fontWeight: 'bold', flex: 1 }}&gt;合格线&lt;/Text&gt;&#10;                    &lt;Text style={{ fontSize: 13, color: '#FFFFFF', fontWeight: 'bold', flex: 0.8 }}&gt;评审权重&lt;/Text&gt;&#10;                &lt;/Box&gt;&#10;                {/* F1 */}&#10;                &lt;Box style={{ flexDirection: 'row', background: '#F7F9FC', padding: '12px 16px', borderTop: '1px solid #D6DCE5' }}&gt;&#10;                    &lt;Text style={{ fontSize: 13, color: '#0E3F8C', fontWeight: 'bold', width: 90 }}&gt;F1 视觉识别&lt;/Text&gt;&#10;                    &lt;Text style={{ fontSize: 12, color: '#4A5568', flex: 1.6, lineHeight: 1.5 }}&gt;mAP@0.5 / 单帧推理 / 光照鲁棒&lt;/Text&gt;&#10;                    &lt;Text style={{ fontSize: 12, color: '#1A2230', flex: 1, lineHeight: 1.5 }}&gt;≥ 0.70 / ≤ 200ms / ≥ 85%&lt;/Text&gt;&#10;                    &lt;Text style={{ fontSize: 12, color: '#1E4FA8', fontWeight: 'bold', flex: 0.8 }}&gt;15%&lt;/Text&gt;&#10;                &lt;/Box&gt;&#10;                {/* F2 */}&#10;                &lt;Box style={{ flexDirection: 'row', background: '#FFFFFF', padding: '12px 16px', borderTop: '1px solid #D6DCE5' }}&gt;&#10;                    &lt;Text style={{ fontSize: 13, color: '#0E3F8C', fontWeight: 'bold', width: 90 }}&gt;F2 任意分拣&lt;/Text&gt;&#10;                    &lt;Text style={{ fontSize: 12, color: '#4A5568', flex: 1.6, lineHeight: 1.5 }}&gt;工作空间 / 抓取成功率 / 单次耗时&lt;/Text&gt;&#10;                    &lt;Text style={{ fontSize: 12, color: '#1A2230', flex: 1, lineHeight: 1.5 }}&gt;全工作空间 / ≥ 80% / ≤ 5s&lt;/Text&gt;&#10;                    &lt;Text style={{ fontSize: 12, color: '#1E4FA8', fontWeight: 'bold', flex: 0.8 }}&gt;25%&lt;/Text&gt;&#10;                &lt;/Box&gt;&#10;                {/* F3 */}&#10;                &lt;Box style={{ flexDirection: 'row', background: '#F7F9FC', padding: '12px 16px', borderTop: '1px solid #D6DCE5' }}&gt;&#10;                    &lt;Text style={{ fontSize: 13, color: '#0E3F8C', fontWeight: 'bold', width: 90 }}&gt;F3 管理看板&lt;/Text&gt;&#10;                    &lt;Text style={{ fontSize: 12, color: '#4A5568', flex: 1.6, lineHeight: 1.5 }}&gt;页面数 / 数据延迟 / 事件完整&lt;/Text&gt;&#10;                    &lt;Text style={{ fontSize: 12, color: '#1A2230', flex: 1, lineHeight: 1.5 }}&gt;≥ 4 页 / ≤ 1s / 100% 字段&lt;/Text&gt;&#10;                    &lt;Text style={{ fontSize: 12, color: '#1E4FA8', fontWeight: 'bold', flex: 0.8 }}&gt;15%&lt;/Text&gt;&#10;                &lt;/Box&gt;&#10;                {/* F4 */}&#10;                &lt;Box style={{ flexDirection: 'row', background: '#FFFFFF', padding: '12px 16px', borderTop: '1px solid #D6DCE5' }}&gt;&#10;                    &lt;Text style={{ fontSize: 13, color: '#0E3F8C', fontWeight: 'bold', width: 90 }}&gt;F4 兜底机制&lt;/Text&gt;&#10;                    &lt;Text style={{ fontSize: 12, color: '#4A5568', flex: 1.6, lineHeight: 1.5 }}&gt;演示成功率 / 兜底响应 / 异常覆盖&lt;/Text&gt;&#10;                    &lt;Text style={{ fontSize: 12, color: '#1A2230', flex: 1, lineHeight: 1.5 }}&gt;≥ 90% / ≤ 3s / 4 类全&lt;/Text&gt;&#10;                    &lt;Text style={{ fontSize: 12, color: '#1E4FA8', fontWeight: 'bold', flex: 0.8 }}&gt;15%&lt;/Text&gt;&#10;                &lt;/Box&gt;&#10;                {/* 软工基础 */}&#10;                &lt;Box style={{ flexDirection: 'row', background: '#F7F9FC', padding: '12px 16px', borderTop: '1px solid #D6DCE5' }}&gt;&#10;                    &lt;Text style={{ fontSize: 13, color: '#0E3F8C', fontWeight: 'bold', width: 90 }}&gt;软工基础&lt;/Text&gt;&#10;                    &lt;Text style={{ fontSize: 12, color: '#4A5568', flex: 1.6, lineHeight: 1.5 }}&gt;代码质量 / 测试 / Git / 文档&lt;/Text&gt;&#10;                    &lt;Text style={{ fontSize: 12, color: '#1A2230', flex: 1, lineHeight: 1.5 }}&gt;见&quot;软件要求&quot;页（13/14）&lt;/Text&gt;&#10;                    &lt;Text style={{ fontSize: 12, color: '#1E4FA8', fontWeight: 'bold', flex: 0.8 }}&gt;20%&lt;/Text&gt;&#10;                &lt;/Box&gt;&#10;                {/* 答辩 */}&#10;                &lt;Box style={{ flexDirection: 'row', background: '#FFFFFF', padding: '12px 16px', borderTop: '1px solid #D6DCE5' }}&gt;&#10;                    &lt;Text style={{ fontSize: 13, color: '#0E3F8C', fontWeight: 'bold', width: 90 }}&gt;答辩&lt;/Text&gt;&#10;                    &lt;Text style={{ fontSize: 12, color: '#4A5568', flex: 1.6, lineHeight: 1.5 }}&gt;演示完整度 / 问答表现&lt;/Text&gt;&#10;                    &lt;Text style={{ fontSize: 12, color: '#1A2230', flex: 1, lineHeight: 1.5 }}&gt;15min + 10min Q&amp;A&lt;/Text&gt;&#10;                    &lt;Text style={{ fontSize: 12, color: '#1E4FA8', fontWeight: 'bold', flex: 0.8 }}&gt;10%&lt;/Text&gt;&#10;                &lt;/Box&gt;&#10;            &lt;/Box&gt;&#10;&#10;            {/* Bottom */}&#10;            &lt;Box style={{ marginTop: 12, padding: '10px 16px', background: '#F0F5FC', borderLeft: '4px solid #1E4FA8', borderRadius: 4 }}&gt;&#10;                &lt;Text style={{ fontSize: 13, color: '#1E4FA8', fontWeight: 'bold' }}&gt;说明：&lt;/Text&gt;&#10;                &lt;Text style={{ fontSize: 13, color: '#1A2230', marginLeft: 8 }}&gt;总成绩 = 4 项功能（70%）+ 软工基础（20%）+ 答辩（10%），满 100 分。任意一项功能缺失，整体最高 B。&lt;/Text&gt;&#10;            &lt;/Box&gt;&#10;        &lt;/Box&gt;&#10;&#10;        {/* Footer */}&#10;        &lt;Box style={{ position: 'absolute', bottom: 0, left: 0, right: 0, height: 40, background: '#F7F9FC', borderTop: '1px solid #D6DCE5', flexDirection: 'row', alignItems: 'center', justifyContent: 'space-between', padding: '0 60px' }}&gt;&#10;            &lt;Text style={{ fontSize: 11, color: '#8B97A8' }}&gt;软硬融合开题课 · 项目详细文档&lt;/Text&gt;&#10;            &lt;Text style={{ fontSize: 12, color: '#1E4FA8', fontWeight: 'bold' }}&gt;08 / 14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矩形 5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10" name="矩形 509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571500" y="96710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课程实践平台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723900" y="2181225"/>
            <a:ext cx="857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1581150" y="2181225"/>
            <a:ext cx="4648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关键指标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6229350" y="2181225"/>
            <a:ext cx="2914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合格线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144000" y="2181225"/>
            <a:ext cx="2324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评审权重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矩形 528"/>
          <p:cNvSpPr/>
          <p:nvPr/>
        </p:nvSpPr>
        <p:spPr>
          <a:xfrm>
            <a:off x="571500" y="2905125"/>
            <a:ext cx="11049000" cy="4476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63" name="矩形 562"/>
          <p:cNvSpPr/>
          <p:nvPr/>
        </p:nvSpPr>
        <p:spPr>
          <a:xfrm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64" name="任意多边形 563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571500" y="266700"/>
            <a:ext cx="2247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50" spc="225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智能硬件</a:t>
            </a:r>
            <a:endParaRPr lang="zh-CN" sz="1050" spc="225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280" y="1799823"/>
            <a:ext cx="8808097" cy="64516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lvl="0" indent="-342900" algn="just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登录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3607" y="2781359"/>
            <a:ext cx="8655343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http://10.126.59.136:30080/course/course/  </a:t>
            </a:r>
            <a:endParaRPr lang="en-US" altLang="zh-CN" sz="20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账号：</a:t>
            </a:r>
            <a:r>
              <a:rPr lang="zh-CN" altLang="en-US" sz="20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学号</a:t>
            </a:r>
            <a:endParaRPr lang="zh-CN" altLang="en-US" sz="20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初始密码：</a:t>
            </a:r>
            <a:r>
              <a:rPr lang="en-US" altLang="zh-CN" sz="200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qst123456</a:t>
            </a:r>
            <a:endParaRPr lang="en-US" altLang="zh-CN" sz="200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2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3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4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5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6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7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8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9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10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11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12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13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14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15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16.xml><?xml version="1.0" encoding="utf-8"?>
<p:tagLst xmlns:p="http://schemas.openxmlformats.org/presentationml/2006/main">
  <p:tag name="KSO_WM_DIAGRAM_VIRTUALLY_FRAME" val="{&quot;height&quot;:90,&quot;left&quot;:45,&quot;top&quot;:159.75,&quot;width&quot;:870}"/>
</p:tagLst>
</file>

<file path=ppt/tags/tag17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18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19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20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21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22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23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24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25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26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27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28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29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30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31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32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33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34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35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36.xml><?xml version="1.0" encoding="utf-8"?>
<p:tagLst xmlns:p="http://schemas.openxmlformats.org/presentationml/2006/main">
  <p:tag name="KSO_WM_DIAGRAM_VIRTUALLY_FRAME" val="{&quot;height&quot;:285.75,&quot;left&quot;:45,&quot;top&quot;:167.25,&quot;width&quot;:870}"/>
</p:tagLst>
</file>

<file path=ppt/tags/tag37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38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39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40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41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42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43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44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45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46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47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48.xml><?xml version="1.0" encoding="utf-8"?>
<p:tagLst xmlns:p="http://schemas.openxmlformats.org/presentationml/2006/main">
  <p:tag name="KSO_WM_DIAGRAM_VIRTUALLY_FRAME" val="{&quot;height&quot;:174,&quot;left&quot;:45,&quot;top&quot;:302.25,&quot;width&quot;:870}"/>
</p:tagLst>
</file>

<file path=ppt/tags/tag49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50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51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52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53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54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55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56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57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58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59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60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61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62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63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64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65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66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67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68.xml><?xml version="1.0" encoding="utf-8"?>
<p:tagLst xmlns:p="http://schemas.openxmlformats.org/presentationml/2006/main">
  <p:tag name="KSO_WM_DIAGRAM_VIRTUALLY_FRAME" val="{&quot;height&quot;:299.25,&quot;left&quot;:45,&quot;top&quot;:150.75,&quot;width&quot;:870}"/>
</p:tagLst>
</file>

<file path=ppt/tags/tag69.xml><?xml version="1.0" encoding="utf-8"?>
<p:tagLst xmlns:p="http://schemas.openxmlformats.org/presentationml/2006/main">
  <p:tag name="TABLE_ENDDRAG_ORIGIN_RECT" val="516*450"/>
  <p:tag name="TABLE_ENDDRAG_RECT" val="223*74*516*450"/>
</p:tagLst>
</file>

<file path=ppt/tags/tag70.xml><?xml version="1.0" encoding="utf-8"?>
<p:tagLst xmlns:p="http://schemas.openxmlformats.org/presentationml/2006/main">
  <p:tag name="TABLE_ENDDRAG_ORIGIN_RECT" val="552*251"/>
  <p:tag name="TABLE_ENDDRAG_RECT" val="278*188*552*25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3042</Words>
  <Application>WPS 演示</Application>
  <PresentationFormat/>
  <Paragraphs>586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Times New Roman</vt:lpstr>
      <vt:lpstr>Calibri</vt:lpstr>
      <vt:lpstr>Arial Unicode MS</vt:lpstr>
      <vt:lpstr>等线 Light</vt:lpstr>
      <vt:lpstr>Calibri Light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happysykl</cp:lastModifiedBy>
  <cp:revision>30</cp:revision>
  <dcterms:created xsi:type="dcterms:W3CDTF">2026-09-10T13:16:00Z</dcterms:created>
  <dcterms:modified xsi:type="dcterms:W3CDTF">2026-09-19T03:49:57Z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1649B8C6A0274F428C225F8040AB6605_12</vt:lpwstr>
  </property>
</Properties>
</file>