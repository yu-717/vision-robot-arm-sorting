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&gt;&#10;    &lt;Box style={{ width: '100%', height: '100%', position: 'relative', background: '#FFFFFF' }}&gt;&#10;        &lt;Box style={{ position: 'absolute', top: 0, left: 0, width: '100%', height: 10, background: '#0E3F8C' }} /&gt;&#10;&#10;        &lt;Box style={{ position: 'absolute', top: 96, left: 60, right: 60 }}&gt;&#10;            &lt;Text style={{ fontSize: 20, color: '#1E4FA8', letterSpacing: 4, fontWeight: 'bold' }}&gt;TASK BRIEFING · 任务布置&lt;/Text&gt;&#10;            &lt;Text style={{ fontSize: 52, color: '#0E3F8C', fontWeight: 'bold', marginTop: 18, lineHeight: 1.2 }}&gt;需求审查：你们要交什么&lt;/Text&gt;&#10;            &lt;Box style={{ width: 84, height: 4, background: '#1E4FA8', marginTop: 24 }} /&gt;&#10;            &lt;Text style={{ fontSize: 24, color: '#1A2230', marginTop: 28, lineHeight: 1.6 }}&gt;下节课开题答辩 · 每组 8 分钟 · 当场给结论&lt;/Text&gt;&#10;            &lt;Text style={{ fontSize: 20, color: '#4A5568', marginTop: 14, lineHeight: 1.6 }}&gt;基于计算机视觉的智能机械臂垃圾分拣与管理系统&lt;/Text&gt;&#10;        &lt;/Box&gt;&#10;&#10;        &lt;Box style={{ position: 'absolute', left: 60, right: 60, bottom: 168, flexDirection: 'row', gap: 16 }}&gt;&#10;            &lt;Box style={{ flex: 1, background: '#F0F5FC', borderLeft: '4px solid #1E4FA8', borderRadius: 4, padding: '18px 20px' }}&gt;&#10;                &lt;Text style={{ fontSize: 18, color: '#0E3F8C', fontWeight: 'bold' }}&gt;交什么&lt;/Text&gt;&#10;                &lt;Text style={{ fontSize: 17, color: '#1A2230', marginTop: 8, lineHeight: 1.5 }}&gt;需求规格 v0.1&lt;/Text&gt;&#10;                &lt;Text style={{ fontSize: 17, color: '#4A5568', lineHeight: 1.5 }}&gt;A4 单面一页纸&lt;/Text&gt;&#10;            &lt;/Box&gt;&#10;            &lt;Box style={{ flex: 1, background: '#F0F5FC', borderLeft: '4px solid #1E4FA8', borderRadius: 4, padding: '18px 20px' }}&gt;&#10;                &lt;Text style={{ fontSize: 18, color: '#0E3F8C', fontWeight: 'bold' }}&gt;什么时候交&lt;/Text&gt;&#10;                &lt;Text style={{ fontSize: 17, color: '#1A2230', marginTop: 8, lineHeight: 1.5 }}&gt;下节课上课前&lt;/Text&gt;&#10;                &lt;Text style={{ fontSize: 17, color: '#4A5568', lineHeight: 1.5 }}&gt;纸质版 + Git 仓库&lt;/Text&gt;&#10;            &lt;/Box&gt;&#10;            &lt;Box style={{ flex: 1, background: '#F0F5FC', borderLeft: '4px solid #1E4FA8', borderRadius: 4, padding: '18px 20px' }}&gt;&#10;                &lt;Text style={{ fontSize: 18, color: '#0E3F8C', fontWeight: 'bold' }}&gt;查什么&lt;/Text&gt;&#10;                &lt;Text style={{ fontSize: 17, color: '#1A2230', marginTop: 8, lineHeight: 1.5 }}&gt;八项硬性检查&lt;/Text&gt;&#10;                &lt;Text style={{ fontSize: 17, color: '#4A5568', lineHeight: 1.5 }}&gt;缺一项即打回修改&lt;/Text&gt;&#10;            &lt;/Box&gt;&#10;        &lt;/Box&gt;&#10;&#10;        &lt;Box style={{ position: 'absolute', bottom: 0, left: 0, right: 0, height: 56, background: '#0E3F8C', flexDirection: 'row', alignItems: 'center', justifyContent: 'space-between', padding: '0 60px' }}&gt;&#10;            &lt;Text style={{ fontSize: 17, color: '#E8EFF8' }}&gt;软件开发与测试综合实践 · 第 3 次课&lt;/Text&gt;&#10;            &lt;Text style={{ fontSize: 17, color: '#E8EFF8' }}&gt;01 / 0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571500" y="914400"/>
            <a:ext cx="11049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TASK BRIEFING · </a:t>
            </a:r>
            <a:r>
              <a:rPr lang="zh-CN" sz="15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任务布置</a:t>
            </a:r>
            <a:endParaRPr lang="zh-CN" sz="15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571500" y="1314450"/>
            <a:ext cx="110490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需求审查：</a:t>
            </a:r>
            <a:endParaRPr lang="zh-CN" sz="39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1500" y="2257425"/>
            <a:ext cx="800100" cy="381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571500" y="2562225"/>
            <a:ext cx="110490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下节课需求审查</a:t>
            </a:r>
            <a:r>
              <a:rPr lang="en-US" sz="18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8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每组</a:t>
            </a:r>
            <a:r>
              <a:rPr lang="en-US" sz="18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8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8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8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陈述</a:t>
            </a:r>
            <a:r>
              <a:rPr lang="en-US" altLang="zh-CN" sz="18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8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分钟，问答</a:t>
            </a:r>
            <a:r>
              <a:rPr lang="en-US" altLang="zh-CN" sz="18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8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altLang="en-US" sz="18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lang="zh-CN" sz="18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lang="zh-CN" altLang="en-US" sz="18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434340" y="5021580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基于计算机视觉的智能机械臂垃圾分拣与管理系统</a:t>
            </a:r>
            <a:endParaRPr lang="zh-CN"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 descr="&lt;Slide padding={0}&gt;&#10;    &lt;Box style={{ width: '100%', height: '100%', position: 'relative', background: '#FFFFFF' }}&gt;&#10;        &lt;Box style={{ height: 72, width: '100%', background: '#0E3F8C', flexDirection: 'row', alignItems: 'center', justifyContent: 'space-between', padding: '0 60px' }}&gt;&#10;            &lt;Text style={{ fontSize: 18, color: '#E8EFF8', letterSpacing: 3 }}&gt;需求审查 · 提交物要求&lt;/Text&gt;&#10;            &lt;Text style={{ fontSize: 18, color: '#E8EFF8', letterSpacing: 2 }}&gt;03 / 08&lt;/Text&gt;&#10;        &lt;/Box&gt;&#10;&#10;        &lt;Box style={{ position: 'absolute', top: 92, left: 60, right: 60, bottom: 50, flexDirection: 'column' }}&gt;&#10;            &lt;Text style={{ fontSize: 18, color: '#1E4FA8', letterSpacing: 3, fontWeight: 'bold' }}&gt;DELIVERABLE · 交什么&lt;/Text&gt;&#10;            &lt;Text style={{ fontSize: 33, color: '#0E3F8C', fontWeight: 'bold', marginTop: 8 }}&gt;需求规格 v0.1，A4 单面一页&lt;/Text&gt;&#10;            &lt;Box style={{ width: 64, height: 3, background: '#1E4FA8', marginTop: 12 }} /&gt;&#10;&#10;            &lt;Box style={{ marginTop: 14, padding: '10px 16px', background: '#FCEBEB', borderLeft: '4px solid #E24B4A', borderRadius: 4 }}&gt;&#10;                &lt;Text style={{ fontSize: 17, color: '#791F1F', fontWeight: 'bold' }}&gt;硬性要求：&lt;/Text&gt;&#10;                &lt;Text style={{ fontSize: 17, color: '#501313', marginLeft: 8 }}&gt;超出一页直接退回。一页写不下，说明你们还没想清楚。&lt;/Text&gt;&#10;            &lt;/Box&gt;&#10;&#10;            &lt;Box style={{ flexDirection: 'column', gap: 8, marginTop: 14 }}&gt;&#10;                &lt;Box style={{ flexDirection: 'row', gap: 14 }}&gt;&#10;                    &lt;Box style={{ width: 68, background: '#0E3F8C', borderRadius: 4, alignItems: 'center', justifyContent: 'center' }}&gt;&#10;                        &lt;Text style={{ fontSize: 20, color: '#FFFFFF', fontWeight: 'bold' }}&gt;①&lt;/Text&gt;&#10;                    &lt;/Box&gt;&#10;                    &lt;Box style={{ flex: 1, background: '#F7F9FC', border: '1px solid #D6DCE5', borderRadius: 6, padding: '10px 16px', justifyContent: 'center' }}&gt;&#10;                        &lt;Text style={{ fontSize: 19, color: '#0E3F8C', fontWeight: 'bold' }}&gt;做什么&lt;/Text&gt;&#10;                        &lt;Text style={{ fontSize: 17, color: '#4A5568', marginTop: 3, lineHeight: 1.3 }}&gt;演示那 3 分钟发生什么：相机看到 → 算坐标 → 臂动 → 抓起 → 记录&lt;/Text&gt;&#10;                    &lt;/Box&gt;&#10;                &lt;/Box&gt;&#10;                &lt;Box style={{ flexDirection: 'row', gap: 14 }}&gt;&#10;                    &lt;Box style={{ width: 68, background: '#0E3F8C', borderRadius: 4, alignItems: 'center', justifyContent: 'center' }}&gt;&#10;                        &lt;Text style={{ fontSize: 20, color: '#FFFFFF', fontWeight: 'bold' }}&gt;②&lt;/Text&gt;&#10;                    &lt;/Box&gt;&#10;                    &lt;Box style={{ flex: 1, background: '#F7F9FC', border: '1px solid #D6DCE5', borderRadius: 6, padding: '10px 16px', justifyContent: 'center' }}&gt;&#10;                        &lt;Text style={{ fontSize: 19, color: '#0E3F8C', fontWeight: 'bold' }}&gt;不做什么&lt;/Text&gt;&#10;                        &lt;Text style={{ fontSize: 17, color: '#4A5568', marginTop: 3, lineHeight: 1.3 }}&gt;列出 3 至 5 项明确不做的功能，其中一项得是你们想要但放弃的&lt;/Text&gt;&#10;                    &lt;/Box&gt;&#10;                &lt;/Box&gt;&#10;                &lt;Box style={{ flexDirection: 'row', gap: 14 }}&gt;&#10;                    &lt;Box style={{ width: 68, background: '#0E3F8C', borderRadius: 4, alignItems: 'center', justifyContent: 'center' }}&gt;&#10;                        &lt;Text style={{ fontSize: 20, color: '#FFFFFF', fontWeight: 'bold' }}&gt;③&lt;/Text&gt;&#10;                    &lt;/Box&gt;&#10;                    &lt;Box style={{ flex: 1, background: '#F7F9FC', border: '1px solid #D6DCE5', borderRadius: 6, padding: '10px 16px', justifyContent: 'center' }}&gt;&#10;                        &lt;Text style={{ fontSize: 19, color: '#0E3F8C', fontWeight: 'bold' }}&gt;验收指标&lt;/Text&gt;&#10;                        &lt;Text style={{ fontSize: 17, color: '#4A5568', marginTop: 3, lineHeight: 1.3 }}&gt;每项功能配一个数字，可高于基线、不得低于基线（见第 4 页）&lt;/Text&gt;&#10;                    &lt;/Box&gt;&#10;                &lt;/Box&gt;&#10;                &lt;Box style={{ flexDirection: 'row', gap: 14 }}&gt;&#10;                    &lt;Box style={{ width: 68, background: '#0E3F8C', borderRadius: 4, alignItems: 'center', justifyContent: 'center' }}&gt;&#10;                        &lt;Text style={{ fontSize: 20, color: '#FFFFFF', fontWeight: 'bold' }}&gt;④&lt;/Text&gt;&#10;                    &lt;/Box&gt;&#10;                    &lt;Box style={{ flex: 1, background: '#F7F9FC', border: '1px solid #D6DCE5', borderRadius: 6, padding: '10px 16px', justifyContent: 'center' }}&gt;&#10;                        &lt;Text style={{ fontSize: 19, color: '#0E3F8C', fontWeight: 'bold' }}&gt;接口契约&lt;/Text&gt;&#10;                        &lt;Text style={{ fontSize: 17, color: '#4A5568', marginTop: 3, lineHeight: 1.3 }}&gt;三人之间传什么：字段名、类型、单位，写到能直接写代码&lt;/Text&gt;&#10;                    &lt;/Box&gt;&#10;                &lt;/Box&gt;&#10;                &lt;Box style={{ flexDirection: 'row', gap: 14 }}&gt;&#10;                    &lt;Box style={{ width: 68, background: '#0E3F8C', borderRadius: 4, alignItems: 'center', justifyContent: 'center' }}&gt;&#10;                        &lt;Text style={{ fontSize: 20, color: '#FFFFFF', fontWeight: 'bold' }}&gt;⑤&lt;/Text&gt;&#10;                    &lt;/Box&gt;&#10;                    &lt;Box style={{ flex: 1, background: '#F7F9FC', border: '1px solid #D6DCE5', borderRadius: 6, padding: '10px 16px', justifyContent: 'center' }}&gt;&#10;                        &lt;Text style={{ fontSize: 19, color: '#0E3F8C', fontWeight: 'bold' }}&gt;已知风险&lt;/Text&gt;&#10;                        &lt;Text style={{ fontSize: 17, color: '#4A5568', marginTop: 3, lineHeight: 1.3 }}&gt;最可能卡住的地方，加卡住时的替代方案，写 3 条&lt;/Text&gt;&#10;                    &lt;/Box&gt;&#10;                &lt;/Box&gt;&#10;            &lt;/Box&gt;&#10;        &lt;/Box&gt;&#10;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7, color: '#8B97A8' }}&gt;软件开发与测试综合实践 · 需求审查布置&lt;/Text&gt;&#10;            &lt;Text style={{ fontSize: 17, color: '#1E4FA8', fontWeight: 'bold' }}&gt;03 / 0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/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3" name="矩形 7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571500" y="238125"/>
            <a:ext cx="2028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需求审查</a:t>
            </a:r>
            <a:r>
              <a:rPr lang="en-US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提交物要求</a:t>
            </a:r>
            <a:endParaRPr lang="zh-CN" sz="13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571500" y="876300"/>
            <a:ext cx="1104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DELIVERABLE · </a:t>
            </a:r>
            <a:r>
              <a:rPr lang="zh-CN" sz="13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交什么</a:t>
            </a:r>
            <a:endParaRPr lang="zh-CN" sz="1350" b="1" spc="2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571500" y="1162050"/>
            <a:ext cx="110490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需求规格</a:t>
            </a:r>
            <a:r>
              <a:rPr lang="en-US" sz="24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zh-CN" sz="24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71500" y="1657350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83" name="圆角矩形 82"/>
          <p:cNvSpPr/>
          <p:nvPr>
            <p:custDataLst>
              <p:tags r:id="rId1"/>
            </p:custDataLst>
          </p:nvPr>
        </p:nvSpPr>
        <p:spPr>
          <a:xfrm>
            <a:off x="551180" y="2061845"/>
            <a:ext cx="647700" cy="695325"/>
          </a:xfrm>
          <a:prstGeom prst="roundRect">
            <a:avLst>
              <a:gd name="adj" fmla="val 5882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84" name="文本框 83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779780" y="229997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1332230" y="2081530"/>
            <a:ext cx="10267950" cy="695325"/>
          </a:xfrm>
          <a:prstGeom prst="roundRect">
            <a:avLst>
              <a:gd name="adj" fmla="val 82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6" name="文本框 85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1484630" y="2157095"/>
            <a:ext cx="9963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做什么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1484630" y="2404745"/>
            <a:ext cx="9963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相机看到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算坐标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臂动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抓起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记录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圆角矩形 87"/>
          <p:cNvSpPr/>
          <p:nvPr>
            <p:custDataLst>
              <p:tags r:id="rId5"/>
            </p:custDataLst>
          </p:nvPr>
        </p:nvSpPr>
        <p:spPr>
          <a:xfrm>
            <a:off x="551180" y="2833370"/>
            <a:ext cx="647700" cy="695325"/>
          </a:xfrm>
          <a:prstGeom prst="roundRect">
            <a:avLst>
              <a:gd name="adj" fmla="val 5882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89" name="文本框 88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779780" y="3071495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1332230" y="2891155"/>
            <a:ext cx="10267950" cy="695325"/>
          </a:xfrm>
          <a:prstGeom prst="roundRect">
            <a:avLst>
              <a:gd name="adj" fmla="val 82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1" name="文本框 90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1484630" y="2928620"/>
            <a:ext cx="9963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不做什么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1484630" y="3176270"/>
            <a:ext cx="9963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列出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至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项明确不做的功能，其中一项得是你们想要但放弃的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圆角矩形 92"/>
          <p:cNvSpPr/>
          <p:nvPr>
            <p:custDataLst>
              <p:tags r:id="rId9"/>
            </p:custDataLst>
          </p:nvPr>
        </p:nvSpPr>
        <p:spPr>
          <a:xfrm>
            <a:off x="551180" y="3604895"/>
            <a:ext cx="647700" cy="695325"/>
          </a:xfrm>
          <a:prstGeom prst="roundRect">
            <a:avLst>
              <a:gd name="adj" fmla="val 5882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94" name="文本框 93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779780" y="384302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1352550" y="3681095"/>
            <a:ext cx="10267950" cy="695325"/>
          </a:xfrm>
          <a:prstGeom prst="roundRect">
            <a:avLst>
              <a:gd name="adj" fmla="val 82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6" name="文本框 95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1484630" y="3700145"/>
            <a:ext cx="9963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验收指标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1484630" y="3947795"/>
            <a:ext cx="9963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每项功能配一个数字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圆角矩形 97"/>
          <p:cNvSpPr/>
          <p:nvPr>
            <p:custDataLst>
              <p:tags r:id="rId13"/>
            </p:custDataLst>
          </p:nvPr>
        </p:nvSpPr>
        <p:spPr>
          <a:xfrm>
            <a:off x="551180" y="4376420"/>
            <a:ext cx="647700" cy="695325"/>
          </a:xfrm>
          <a:prstGeom prst="roundRect">
            <a:avLst>
              <a:gd name="adj" fmla="val 5882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99" name="文本框 98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779780" y="4614545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1352550" y="4462145"/>
            <a:ext cx="10267950" cy="695325"/>
          </a:xfrm>
          <a:prstGeom prst="roundRect">
            <a:avLst>
              <a:gd name="adj" fmla="val 82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1" name="文本框 100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1484630" y="4471670"/>
            <a:ext cx="9963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接口契约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1484630" y="4719320"/>
            <a:ext cx="9963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三人之间传什么：字段名、类型、单位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圆角矩形 102"/>
          <p:cNvSpPr/>
          <p:nvPr>
            <p:custDataLst>
              <p:tags r:id="rId17"/>
            </p:custDataLst>
          </p:nvPr>
        </p:nvSpPr>
        <p:spPr>
          <a:xfrm>
            <a:off x="551180" y="5147945"/>
            <a:ext cx="647700" cy="695325"/>
          </a:xfrm>
          <a:prstGeom prst="roundRect">
            <a:avLst>
              <a:gd name="adj" fmla="val 5882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104" name="文本框 103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779780" y="538607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1403350" y="5189220"/>
            <a:ext cx="10267950" cy="695325"/>
          </a:xfrm>
          <a:prstGeom prst="roundRect">
            <a:avLst>
              <a:gd name="adj" fmla="val 82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>
            <p:custDataLst>
              <p:tags r:id="rId19"/>
            </p:custDataLst>
          </p:nvPr>
        </p:nvSpPr>
        <p:spPr>
          <a:xfrm>
            <a:off x="1484630" y="5243195"/>
            <a:ext cx="9963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已知风险（</a:t>
            </a: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兜底机制）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>
            <p:custDataLst>
              <p:tags r:id="rId20"/>
            </p:custDataLst>
          </p:nvPr>
        </p:nvSpPr>
        <p:spPr>
          <a:xfrm>
            <a:off x="1484630" y="5490845"/>
            <a:ext cx="9963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最可能卡住的地方，加卡住时的替代方案，写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09" name="任意多边形 108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571500" y="6572250"/>
            <a:ext cx="2895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软件开发与测试综合实践</a:t>
            </a:r>
            <a:r>
              <a:rPr lang="en-US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需求审查布置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 descr="&lt;Slide padding={0}&gt;&#10;    &lt;Box style={{ width: '100%', height: '100%', position: 'relative', background: '#FFFFFF' }}&gt;&#10;        &lt;Box style={{ height: 72, width: '100%', background: '#0E3F8C', flexDirection: 'row', alignItems: 'center', justifyContent: 'space-between', padding: '0 60px' }}&gt;&#10;            &lt;Text style={{ fontSize: 18, color: '#E8EFF8', letterSpacing: 3 }}&gt;需求审查 · 指标基线&lt;/Text&gt;&#10;            &lt;Text style={{ fontSize: 18, color: '#E8EFF8', letterSpacing: 2 }}&gt;04 / 08&lt;/Text&gt;&#10;        &lt;/Box&gt;&#10;&#10;        &lt;Box style={{ position: 'absolute', top: 92, left: 60, right: 60, bottom: 50, flexDirection: 'column' }}&gt;&#10;            &lt;Text style={{ fontSize: 18, color: '#1E4FA8', letterSpacing: 3, fontWeight: 'bold' }}&gt;BASELINE · 验收指标基线&lt;/Text&gt;&#10;            &lt;Text style={{ fontSize: 33, color: '#0E3F8C', fontWeight: 'bold', marginTop: 8 }}&gt;可以提更高，不得低于此线&lt;/Text&gt;&#10;            &lt;Box style={{ width: 64, height: 3, background: '#1E4FA8', marginTop: 12 }} /&gt;&#10;&#10;            &lt;Box style={{ marginTop: 20, border: '1px solid #D6DCE5', borderRadius: 6, overflow: 'hidden' }}&gt;&#10;                &lt;Box style={{ flexDirection: 'row', background: '#0E3F8C', padding: '11px 16px' }}&gt;&#10;                    &lt;Text style={{ fontSize: 18, color: '#FFFFFF', fontWeight: 'bold', width: 116 }}&gt;功能&lt;/Text&gt;&#10;                    &lt;Text style={{ fontSize: 18, color: '#FFFFFF', fontWeight: 'bold', flex: 1.1 }}&gt;关键指标&lt;/Text&gt;&#10;                    &lt;Text style={{ fontSize: 18, color: '#FFFFFF', fontWeight: 'bold', flex: 1.3 }}&gt;合格线&lt;/Text&gt;&#10;                &lt;/Box&gt;&#10;&#10;                &lt;Box style={{ flexDirection: 'row', background: '#F7F9FC', padding: '11px 16px', borderTop: '1px solid #D6DCE5' }}&gt;&#10;                    &lt;Text style={{ fontSize: 18, color: '#0E3F8C', fontWeight: 'bold', width: 116 }}&gt;F1 识别&lt;/Text&gt;&#10;                    &lt;Text style={{ fontSize: 17, color: '#4A5568', flex: 1.1, lineHeight: 1.3 }}&gt;mAP@0.5 / 单帧推理 / 数据集&lt;/Text&gt;&#10;                    &lt;Text style={{ fontSize: 17, color: '#1A2230', flex: 1.3, lineHeight: 1.3 }}&gt;≥ 0.70 / ≤ 200ms / 每类 ≥ 50 张&lt;/Text&gt;&#10;                &lt;/Box&gt;&#10;&#10;                &lt;Box style={{ flexDirection: 'row', background: '#FFFFFF', padding: '11px 16px', borderTop: '1px solid #D6DCE5' }}&gt;&#10;                    &lt;Text style={{ fontSize: 18, color: '#0E3F8C', fontWeight: 'bold', width: 116 }}&gt;F2 分拣&lt;/Text&gt;&#10;                    &lt;Text style={{ fontSize: 17, color: '#4A5568', flex: 1.1, lineHeight: 1.3 }}&gt;工作区 / 成功率 / 单点耗时&lt;/Text&gt;&#10;                    &lt;Text style={{ fontSize: 17, color: '#1A2230', flex: 1.3, lineHeight: 1.3 }}&gt;200×200mm 固定高度 / ≥ 80% / ≤ 15s&lt;/Text&gt;&#10;                &lt;/Box&gt;&#10;&#10;                &lt;Box style={{ flexDirection: 'row', background: '#F7F9FC', padding: '11px 16px', borderTop: '1px solid #D6DCE5' }}&gt;&#10;                    &lt;Text style={{ fontSize: 18, color: '#0E3F8C', fontWeight: 'bold', width: 116 }}&gt;F3 看板&lt;/Text&gt;&#10;                    &lt;Text style={{ fontSize: 17, color: '#4A5568', flex: 1.1, lineHeight: 1.3 }}&gt;页面数 / 数据延迟 / 字段&lt;/Text&gt;&#10;                    &lt;Text style={{ fontSize: 17, color: '#1A2230', flex: 1.3, lineHeight: 1.3 }}&gt;≥ 4 页 / ≤ 1s / 字段 100% 完整&lt;/Text&gt;&#10;                &lt;/Box&gt;&#10;&#10;                &lt;Box style={{ flexDirection: 'row', background: '#FFFFFF', padding: '11px 16px', borderTop: '1px solid #D6DCE5' }}&gt;&#10;                    &lt;Text style={{ fontSize: 18, color: '#0E3F8C', fontWeight: 'bold', width: 116 }}&gt;F4 兜底&lt;/Text&gt;&#10;                    &lt;Text style={{ fontSize: 17, color: '#4A5568', flex: 1.1, lineHeight: 1.3 }}&gt;演示成功率 / 响应 / 覆盖&lt;/Text&gt;&#10;                    &lt;Text style={{ fontSize: 17, color: '#1A2230', flex: 1.3, lineHeight: 1.3 }}&gt;≥ 90% / ≤ 3s / 覆盖 4 类异常&lt;/Text&gt;&#10;                &lt;/Box&gt;&#10;            &lt;/Box&gt;&#10;&#10;            &lt;Box style={{ marginTop: 18, padding: '12px 16px', background: '#EAF3DE', borderLeft: '4px solid #639922', borderRadius: 4 }}&gt;&#10;                &lt;Text style={{ fontSize: 17, color: '#27500A', fontWeight: 'bold' }}&gt;F2 说明：&lt;/Text&gt;&#10;                &lt;Text style={{ fontSize: 17, color: '#3B6D11', marginLeft: 8 }}&gt;要求是&quot;工作区内任意位置&quot;，不是全工作空间、也不是任意高度。这是官方划定的降级边界，写进需求里不算放水。&lt;/Text&gt;&#10;            &lt;/Box&gt;&#10;&#10;            &lt;Box style={{ marginTop: 14, padding: '12px 16px', background: '#F0F5FC', borderLeft: '4px solid #1E4FA8', borderRadius: 4 }}&gt;&#10;                &lt;Text style={{ fontSize: 17, color: '#1E4FA8', fontWeight: 'bold' }}&gt;提醒：&lt;/Text&gt;&#10;                &lt;Text style={{ fontSize: 17, color: '#1A2230', marginLeft: 8 }}&gt;mAP 是四类平均，任何一类样本不足都会把整体拉下来——四类要拍得均衡。&lt;/Text&gt;&#10;            &lt;/Box&gt;&#10;        &lt;/Box&gt;&#10;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7, color: '#8B97A8' }}&gt;软件开发与测试综合实践 · 需求审查布置&lt;/Text&gt;&#10;            &lt;Text style={{ fontSize: 17, color: '#1E4FA8', fontWeight: 'bold' }}&gt;04 / 0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矩形 112"/>
          <p:cNvSpPr/>
          <p:nvPr/>
        </p:nvSpPr>
        <p:spPr>
          <a:xfrm>
            <a:off x="0" y="5080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4" name="矩形 11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571500" y="238125"/>
            <a:ext cx="1828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需求审查</a:t>
            </a:r>
            <a:r>
              <a:rPr lang="en-US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指标基线</a:t>
            </a:r>
            <a:endParaRPr lang="zh-CN" sz="13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571500" y="876300"/>
            <a:ext cx="1104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BASELINE · </a:t>
            </a:r>
            <a:r>
              <a:rPr lang="zh-CN" sz="13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验收指标</a:t>
            </a:r>
            <a:endParaRPr lang="zh-CN" sz="1350" b="1" spc="2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571500" y="1657350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20" name="圆角矩形 119"/>
          <p:cNvSpPr/>
          <p:nvPr/>
        </p:nvSpPr>
        <p:spPr>
          <a:xfrm>
            <a:off x="571500" y="1876425"/>
            <a:ext cx="6206490" cy="2324100"/>
          </a:xfrm>
          <a:prstGeom prst="roundRect">
            <a:avLst>
              <a:gd name="adj" fmla="val 245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1" name="任意多边形 120"/>
          <p:cNvSpPr/>
          <p:nvPr/>
        </p:nvSpPr>
        <p:spPr>
          <a:xfrm>
            <a:off x="571500" y="1876425"/>
            <a:ext cx="6207125" cy="414020"/>
          </a:xfrm>
          <a:custGeom>
            <a:avLst/>
            <a:gdLst/>
            <a:ahLst/>
            <a:cxnLst/>
            <a:pathLst>
              <a:path w="1160" h="44">
                <a:moveTo>
                  <a:pt x="1154" y="0"/>
                </a:moveTo>
                <a:cubicBezTo>
                  <a:pt x="1157" y="0"/>
                  <a:pt x="1160" y="3"/>
                  <a:pt x="1160" y="6"/>
                </a:cubicBezTo>
                <a:lnTo>
                  <a:pt x="1160" y="44"/>
                </a:lnTo>
                <a:lnTo>
                  <a:pt x="0" y="44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54" y="0"/>
                </a:lnTo>
                <a:close/>
              </a:path>
            </a:pathLst>
          </a:custGeom>
          <a:solidFill>
            <a:srgbClr val="0E3F8C"/>
          </a:solidFill>
        </p:spPr>
        <p:txBody>
          <a:bodyPr/>
          <a:p/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723900" y="1981200"/>
            <a:ext cx="1104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828800" y="1981200"/>
            <a:ext cx="4419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关键指标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571500" y="2305050"/>
            <a:ext cx="6223000" cy="47625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26" name="任意多边形 125"/>
          <p:cNvSpPr/>
          <p:nvPr/>
        </p:nvSpPr>
        <p:spPr>
          <a:xfrm>
            <a:off x="571500" y="2295525"/>
            <a:ext cx="6206490" cy="485775"/>
          </a:xfrm>
          <a:custGeom>
            <a:avLst/>
            <a:gdLst/>
            <a:ahLst/>
            <a:cxnLst/>
            <a:pathLst>
              <a:path w="1160" h="5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723900" y="2409825"/>
            <a:ext cx="1104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F1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识别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1828800" y="2409825"/>
            <a:ext cx="44196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mAP@0.5 /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单帧推理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数据集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571500" y="2781300"/>
            <a:ext cx="6198870" cy="47625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1" name="任意多边形 130"/>
          <p:cNvSpPr/>
          <p:nvPr/>
        </p:nvSpPr>
        <p:spPr>
          <a:xfrm>
            <a:off x="571500" y="2771775"/>
            <a:ext cx="6198870" cy="485775"/>
          </a:xfrm>
          <a:custGeom>
            <a:avLst/>
            <a:gdLst/>
            <a:ahLst/>
            <a:cxnLst/>
            <a:pathLst>
              <a:path w="1160" h="5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723900" y="2886075"/>
            <a:ext cx="1104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F2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分拣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1828800" y="2886075"/>
            <a:ext cx="44196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工作区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成功率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单点耗时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571500" y="3257550"/>
            <a:ext cx="6198870" cy="47625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36" name="任意多边形 135"/>
          <p:cNvSpPr/>
          <p:nvPr/>
        </p:nvSpPr>
        <p:spPr>
          <a:xfrm>
            <a:off x="571500" y="3248025"/>
            <a:ext cx="6223000" cy="485775"/>
          </a:xfrm>
          <a:custGeom>
            <a:avLst/>
            <a:gdLst/>
            <a:ahLst/>
            <a:cxnLst/>
            <a:pathLst>
              <a:path w="1160" h="5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723900" y="3362325"/>
            <a:ext cx="1104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F3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看板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828800" y="3362325"/>
            <a:ext cx="44196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页面数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数据延迟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字段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任意多边形 139"/>
          <p:cNvSpPr/>
          <p:nvPr/>
        </p:nvSpPr>
        <p:spPr>
          <a:xfrm>
            <a:off x="571500" y="3733800"/>
            <a:ext cx="11049000" cy="476250"/>
          </a:xfrm>
          <a:custGeom>
            <a:avLst/>
            <a:gdLst/>
            <a:ahLst/>
            <a:cxnLst/>
            <a:pathLst>
              <a:path w="1160" h="50">
                <a:moveTo>
                  <a:pt x="1160" y="43"/>
                </a:moveTo>
                <a:cubicBezTo>
                  <a:pt x="1160" y="46"/>
                  <a:pt x="1157" y="49"/>
                  <a:pt x="1154" y="49"/>
                </a:cubicBezTo>
                <a:lnTo>
                  <a:pt x="6" y="49"/>
                </a:lnTo>
                <a:cubicBezTo>
                  <a:pt x="3" y="49"/>
                  <a:pt x="0" y="46"/>
                  <a:pt x="0" y="43"/>
                </a:cubicBezTo>
                <a:lnTo>
                  <a:pt x="0" y="0"/>
                </a:lnTo>
                <a:lnTo>
                  <a:pt x="11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/>
        </p:txBody>
      </p:sp>
      <p:sp>
        <p:nvSpPr>
          <p:cNvPr id="141" name="任意多边形 140"/>
          <p:cNvSpPr/>
          <p:nvPr/>
        </p:nvSpPr>
        <p:spPr>
          <a:xfrm>
            <a:off x="571500" y="3724275"/>
            <a:ext cx="6167755" cy="485775"/>
          </a:xfrm>
          <a:custGeom>
            <a:avLst/>
            <a:gdLst/>
            <a:ahLst/>
            <a:cxnLst/>
            <a:pathLst>
              <a:path w="1160" h="5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723900" y="3838575"/>
            <a:ext cx="1104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F4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兜底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1828800" y="3838575"/>
            <a:ext cx="44196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演示成功率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响应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覆盖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54" name="任意多边形 153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571500" y="6572250"/>
            <a:ext cx="2895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软件开发与测试综合实践</a:t>
            </a:r>
            <a:r>
              <a:rPr lang="en-US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需求审查布置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 descr="&lt;Slide padding={0}&gt;&#10;    &lt;Box style={{ width: '100%', height: '100%', position: 'relative', background: '#FFFFFF' }}&gt;&#10;        &lt;Box style={{ height: 72, width: '100%', background: '#0E3F8C', flexDirection: 'row', alignItems: 'center', justifyContent: 'space-between', padding: '0 60px' }}&gt;&#10;            &lt;Text style={{ fontSize: 18, color: '#E8EFF8', letterSpacing: 3 }}&gt;需求审查 · 写法对照&lt;/Text&gt;&#10;            &lt;Text style={{ fontSize: 18, color: '#E8EFF8', letterSpacing: 2 }}&gt;05 / 08&lt;/Text&gt;&#10;        &lt;/Box&gt;&#10;&#10;        &lt;Box style={{ position: 'absolute', top: 92, left: 60, right: 60, bottom: 50, flexDirection: 'column' }}&gt;&#10;            &lt;Text style={{ fontSize: 18, color: '#1E4FA8', letterSpacing: 3, fontWeight: 'bold' }}&gt;GOOD vs BAD · 怎么写才算合格&lt;/Text&gt;&#10;            &lt;Text style={{ fontSize: 31, color: '#0E3F8C', fontWeight: 'bold', marginTop: 8 }}&gt;左边会被打回，右边才通过&lt;/Text&gt;&#10;            &lt;Box style={{ width: 64, height: 3, background: '#1E4FA8', marginTop: 12 }} /&gt;&#10;&#10;            &lt;Box style={{ marginTop: 18, border: '1px solid #D6DCE5', borderRadius: 6, overflow: 'hidden' }}&gt;&#10;                &lt;Box style={{ flexDirection: 'row', padding: '9px 14px', background: '#F1EFE8' }}&gt;&#10;                    &lt;Text style={{ fontSize: 17, color: '#5F5E5A', fontWeight: 'bold', width: 76 }}&gt;场景&lt;/Text&gt;&#10;                    &lt;Text style={{ fontSize: 17, color: '#A32D2D', fontWeight: 'bold', flex: 1 }}&gt;不合格写法&lt;/Text&gt;&#10;                    &lt;Text style={{ fontSize: 17, color: '#27500A', fontWeight: 'bold', flex: 1.25 }}&gt;合格写法&lt;/Text&gt;&#10;                &lt;/Box&gt;&#10;&#10;                &lt;Box style={{ flexDirection: 'row', padding: '9px 14px', borderTop: '1px solid #D6DCE5' }}&gt;&#10;                    &lt;Text style={{ fontSize: 17, color: '#0E3F8C', fontWeight: 'bold', width: 76 }}&gt;识别&lt;/Text&gt;&#10;                    &lt;Text style={{ fontSize: 17, color: '#791F1F', flex: 1, lineHeight: 1.3 }}&gt;识别准确率高&lt;/Text&gt;&#10;                    &lt;Text style={{ fontSize: 17, color: '#1A2230', flex: 1.25, lineHeight: 1.3 }}&gt;四类 mAP@0.5 ≥ 0.75，单帧 ≤ 150ms&lt;/Text&gt;&#10;                &lt;/Box&gt;&#10;&#10;                &lt;Box style={{ flexDirection: 'row', padding: '9px 14px', borderTop: '1px solid #D6DCE5', background: '#FBFBFA' }}&gt;&#10;                    &lt;Text style={{ fontSize: 17, color: '#0E3F8C', fontWeight: 'bold', width: 76 }}&gt;抓取&lt;/Text&gt;&#10;                    &lt;Text style={{ fontSize: 17, color: '#791F1F', flex: 1, lineHeight: 1.3 }}&gt;机械臂能抓起来&lt;/Text&gt;&#10;                    &lt;Text style={{ fontSize: 17, color: '#1A2230', flex: 1.25, lineHeight: 1.3 }}&gt;工作区内任意位置，连续 10 次成功 ≥ 8 次&lt;/Text&gt;&#10;                &lt;/Box&gt;&#10;&#10;                &lt;Box style={{ flexDirection: 'row', padding: '9px 14px', borderTop: '1px solid #D6DCE5' }}&gt;&#10;                    &lt;Text style={{ fontSize: 17, color: '#0E3F8C', fontWeight: 'bold', width: 76 }}&gt;看板&lt;/Text&gt;&#10;                    &lt;Text style={{ fontSize: 17, color: '#791F1F', flex: 1, lineHeight: 1.3 }}&gt;做一个 Web 管理页面&lt;/Text&gt;&#10;                    &lt;Text style={{ fontSize: 17, color: '#1A2230', flex: 1.25, lineHeight: 1.3 }}&gt;4 个页面，事件从写入到展示 ≤ 1s&lt;/Text&gt;&#10;                &lt;/Box&gt;&#10;&#10;                &lt;Box style={{ flexDirection: 'row', padding: '9px 14px', borderTop: '1px solid #D6DCE5', background: '#FBFBFA' }}&gt;&#10;                    &lt;Text style={{ fontSize: 17, color: '#0E3F8C', fontWeight: 'bold', width: 76 }}&gt;兜底&lt;/Text&gt;&#10;                    &lt;Text style={{ fontSize: 17, color: '#791F1F', flex: 1, lineHeight: 1.3 }}&gt;识别失败会重试&lt;/Text&gt;&#10;                    &lt;Text style={{ fontSize: 17, color: '#1A2230', flex: 1.25, lineHeight: 1.3 }}&gt;置信度低于 0.5 转颜色追踪，仍失败则跳过并记日志&lt;/Text&gt;&#10;                &lt;/Box&gt;&#10;&#10;                &lt;Box style={{ flexDirection: 'row', padding: '9px 14px', borderTop: '1px solid #D6DCE5' }}&gt;&#10;                    &lt;Text style={{ fontSize: 17, color: '#0E3F8C', fontWeight: 'bold', width: 76 }}&gt;分工&lt;/Text&gt;&#10;                    &lt;Text style={{ fontSize: 17, color: '#791F1F', flex: 1, lineHeight: 1.3 }}&gt;张三做视觉，李四做控制&lt;/Text&gt;&#10;                    &lt;Text style={{ fontSize: 17, color: '#1A2230', flex: 1.25, lineHeight: 1.3 }}&gt;张三交付标注数据集与模型，接口 detect 返回类别与坐标&lt;/Text&gt;&#10;                &lt;/Box&gt;&#10;            &lt;/Box&gt;&#10;&#10;            &lt;Box style={{ marginTop: 18, padding: '13px 16px', background: '#0E3F8C', borderRadius: 6 }}&gt;&#10;                &lt;Text style={{ fontSize: 18, color: '#FFFFFF', fontWeight: 'bold' }}&gt;判据只有一句：&lt;/Text&gt;&#10;                &lt;Text style={{ fontSize: 18, color: '#E8EFF8', marginLeft: 8 }}&gt;一个不了解项目的人读完，如果判断不了&quot;做没做到&quot;，就是不合格需求。&lt;/Text&gt;&#10;            &lt;/Box&gt;&#10;        &lt;/Box&gt;&#10;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7, color: '#8B97A8' }}&gt;软件开发与测试综合实践 · 需求审查布置&lt;/Text&gt;&#10;            &lt;Text style={{ fontSize: 17, color: '#1E4FA8', fontWeight: 'bold' }}&gt;05 / 0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9" name="矩形 158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71500" y="238125"/>
            <a:ext cx="1828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需求审查</a:t>
            </a:r>
            <a:r>
              <a:rPr lang="en-US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写法对照</a:t>
            </a:r>
            <a:endParaRPr lang="zh-CN" sz="13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571500" y="1638300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65" name="圆角矩形 164"/>
          <p:cNvSpPr/>
          <p:nvPr/>
        </p:nvSpPr>
        <p:spPr>
          <a:xfrm>
            <a:off x="571500" y="1838325"/>
            <a:ext cx="11049000" cy="2562225"/>
          </a:xfrm>
          <a:prstGeom prst="roundRect">
            <a:avLst>
              <a:gd name="adj" fmla="val 2230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6" name="任意多边形 165"/>
          <p:cNvSpPr/>
          <p:nvPr/>
        </p:nvSpPr>
        <p:spPr>
          <a:xfrm>
            <a:off x="571500" y="1838325"/>
            <a:ext cx="11049000" cy="371475"/>
          </a:xfrm>
          <a:custGeom>
            <a:avLst/>
            <a:gdLst/>
            <a:ahLst/>
            <a:cxnLst/>
            <a:pathLst>
              <a:path w="1160" h="39">
                <a:moveTo>
                  <a:pt x="1154" y="0"/>
                </a:moveTo>
                <a:cubicBezTo>
                  <a:pt x="1157" y="0"/>
                  <a:pt x="1160" y="3"/>
                  <a:pt x="1160" y="6"/>
                </a:cubicBezTo>
                <a:lnTo>
                  <a:pt x="1160" y="39"/>
                </a:lnTo>
                <a:lnTo>
                  <a:pt x="0" y="39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54" y="0"/>
                </a:lnTo>
                <a:close/>
              </a:path>
            </a:pathLst>
          </a:custGeom>
          <a:solidFill>
            <a:srgbClr val="F1EFE8"/>
          </a:solidFill>
        </p:spPr>
        <p:txBody>
          <a:bodyPr/>
          <a:p/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04850" y="1924050"/>
            <a:ext cx="723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endParaRPr lang="zh-CN" sz="1275" b="1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1428750" y="1924050"/>
            <a:ext cx="4467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不合格写法</a:t>
            </a:r>
            <a:endParaRPr lang="zh-CN" sz="1275" b="1">
              <a:solidFill>
                <a:srgbClr val="A3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895975" y="1924050"/>
            <a:ext cx="5591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500A"/>
                </a:solidFill>
                <a:latin typeface="微软雅黑" panose="020B0503020204020204" charset="-122"/>
                <a:ea typeface="微软雅黑" panose="020B0503020204020204" charset="-122"/>
              </a:rPr>
              <a:t>合格写法</a:t>
            </a:r>
            <a:endParaRPr lang="zh-CN" sz="1275" b="1">
              <a:solidFill>
                <a:srgbClr val="2750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任意多边形 169"/>
          <p:cNvSpPr/>
          <p:nvPr/>
        </p:nvSpPr>
        <p:spPr>
          <a:xfrm>
            <a:off x="571500" y="2209800"/>
            <a:ext cx="11049000" cy="447675"/>
          </a:xfrm>
          <a:custGeom>
            <a:avLst/>
            <a:gdLst/>
            <a:ahLst/>
            <a:cxnLst/>
            <a:pathLst>
              <a:path w="1160" h="4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704850" y="2305050"/>
            <a:ext cx="723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识别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1428750" y="2305050"/>
            <a:ext cx="44672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791F1F"/>
                </a:solidFill>
                <a:latin typeface="微软雅黑" panose="020B0503020204020204" charset="-122"/>
                <a:ea typeface="微软雅黑" panose="020B0503020204020204" charset="-122"/>
              </a:rPr>
              <a:t>识别准确率高</a:t>
            </a:r>
            <a:endParaRPr lang="zh-CN" sz="1275">
              <a:solidFill>
                <a:srgbClr val="791F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5895975" y="2305050"/>
            <a:ext cx="5591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mAP@0.5 ≥ 0.75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，单帧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≤ 150ms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571500" y="2657475"/>
            <a:ext cx="11049000" cy="438150"/>
          </a:xfrm>
          <a:prstGeom prst="rect">
            <a:avLst/>
          </a:prstGeom>
          <a:solidFill>
            <a:srgbClr val="FBFBFA"/>
          </a:solidFill>
        </p:spPr>
        <p:txBody>
          <a:bodyPr/>
          <a:p/>
        </p:txBody>
      </p:sp>
      <p:sp>
        <p:nvSpPr>
          <p:cNvPr id="175" name="任意多边形 174"/>
          <p:cNvSpPr/>
          <p:nvPr/>
        </p:nvSpPr>
        <p:spPr>
          <a:xfrm>
            <a:off x="571500" y="2647950"/>
            <a:ext cx="11049000" cy="447675"/>
          </a:xfrm>
          <a:custGeom>
            <a:avLst/>
            <a:gdLst/>
            <a:ahLst/>
            <a:cxnLst/>
            <a:pathLst>
              <a:path w="1160" h="4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704850" y="2743200"/>
            <a:ext cx="723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抓取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1428750" y="2743200"/>
            <a:ext cx="44672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791F1F"/>
                </a:solidFill>
                <a:latin typeface="微软雅黑" panose="020B0503020204020204" charset="-122"/>
                <a:ea typeface="微软雅黑" panose="020B0503020204020204" charset="-122"/>
              </a:rPr>
              <a:t>机械臂能抓起来</a:t>
            </a:r>
            <a:endParaRPr lang="zh-CN" sz="1275">
              <a:solidFill>
                <a:srgbClr val="791F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5895975" y="2743200"/>
            <a:ext cx="5591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工作区内任意位置，连续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次成功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≥ 8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zh-CN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任意多边形 178"/>
          <p:cNvSpPr/>
          <p:nvPr/>
        </p:nvSpPr>
        <p:spPr>
          <a:xfrm>
            <a:off x="571500" y="3086100"/>
            <a:ext cx="11049000" cy="447675"/>
          </a:xfrm>
          <a:custGeom>
            <a:avLst/>
            <a:gdLst/>
            <a:ahLst/>
            <a:cxnLst/>
            <a:pathLst>
              <a:path w="1160" h="4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704850" y="3181350"/>
            <a:ext cx="723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看板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28750" y="3181350"/>
            <a:ext cx="44672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791F1F"/>
                </a:solidFill>
                <a:latin typeface="微软雅黑" panose="020B0503020204020204" charset="-122"/>
                <a:ea typeface="微软雅黑" panose="020B0503020204020204" charset="-122"/>
              </a:rPr>
              <a:t>做一个</a:t>
            </a:r>
            <a:r>
              <a:rPr lang="en-US" sz="1275">
                <a:solidFill>
                  <a:srgbClr val="791F1F"/>
                </a:solidFill>
                <a:latin typeface="微软雅黑" panose="020B0503020204020204" charset="-122"/>
                <a:ea typeface="微软雅黑" panose="020B0503020204020204" charset="-122"/>
              </a:rPr>
              <a:t> Web </a:t>
            </a:r>
            <a:r>
              <a:rPr lang="zh-CN" sz="1275">
                <a:solidFill>
                  <a:srgbClr val="791F1F"/>
                </a:solidFill>
                <a:latin typeface="微软雅黑" panose="020B0503020204020204" charset="-122"/>
                <a:ea typeface="微软雅黑" panose="020B0503020204020204" charset="-122"/>
              </a:rPr>
              <a:t>管理页面</a:t>
            </a:r>
            <a:endParaRPr lang="zh-CN" sz="1275">
              <a:solidFill>
                <a:srgbClr val="791F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5895975" y="3181350"/>
            <a:ext cx="5591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个页面，事件从写入到展示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≤ 1s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571500" y="3533775"/>
            <a:ext cx="11049000" cy="438150"/>
          </a:xfrm>
          <a:prstGeom prst="rect">
            <a:avLst/>
          </a:prstGeom>
          <a:solidFill>
            <a:srgbClr val="FBFBFA"/>
          </a:solidFill>
        </p:spPr>
        <p:txBody>
          <a:bodyPr/>
          <a:p/>
        </p:txBody>
      </p:sp>
      <p:sp>
        <p:nvSpPr>
          <p:cNvPr id="184" name="任意多边形 183"/>
          <p:cNvSpPr/>
          <p:nvPr/>
        </p:nvSpPr>
        <p:spPr>
          <a:xfrm>
            <a:off x="571500" y="3524250"/>
            <a:ext cx="11049000" cy="447675"/>
          </a:xfrm>
          <a:custGeom>
            <a:avLst/>
            <a:gdLst/>
            <a:ahLst/>
            <a:cxnLst/>
            <a:pathLst>
              <a:path w="1160" h="4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704850" y="3619500"/>
            <a:ext cx="723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兜底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428750" y="3619500"/>
            <a:ext cx="44672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791F1F"/>
                </a:solidFill>
                <a:latin typeface="微软雅黑" panose="020B0503020204020204" charset="-122"/>
                <a:ea typeface="微软雅黑" panose="020B0503020204020204" charset="-122"/>
              </a:rPr>
              <a:t>识别失败会重试</a:t>
            </a:r>
            <a:endParaRPr lang="zh-CN" sz="1275">
              <a:solidFill>
                <a:srgbClr val="791F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5895975" y="3619500"/>
            <a:ext cx="5591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置信度低于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0.5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转颜色追踪，仍失败则跳过并记日志</a:t>
            </a:r>
            <a:endParaRPr lang="zh-CN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任意多边形 187"/>
          <p:cNvSpPr/>
          <p:nvPr/>
        </p:nvSpPr>
        <p:spPr>
          <a:xfrm>
            <a:off x="571500" y="3962400"/>
            <a:ext cx="11049000" cy="447675"/>
          </a:xfrm>
          <a:custGeom>
            <a:avLst/>
            <a:gdLst/>
            <a:ahLst/>
            <a:cxnLst/>
            <a:pathLst>
              <a:path w="1160" h="4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704850" y="4057650"/>
            <a:ext cx="723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分工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1428750" y="4057650"/>
            <a:ext cx="44672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791F1F"/>
                </a:solidFill>
                <a:latin typeface="微软雅黑" panose="020B0503020204020204" charset="-122"/>
                <a:ea typeface="微软雅黑" panose="020B0503020204020204" charset="-122"/>
              </a:rPr>
              <a:t>张三做视觉，李四做控制</a:t>
            </a:r>
            <a:endParaRPr lang="zh-CN" sz="1275">
              <a:solidFill>
                <a:srgbClr val="791F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5895975" y="4057650"/>
            <a:ext cx="5591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张三交付标注数据集与模型，接口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detect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返回类别与坐标</a:t>
            </a:r>
            <a:endParaRPr lang="zh-CN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96" name="任意多边形 195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571500" y="6572250"/>
            <a:ext cx="2895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软件开发与测试综合实践</a:t>
            </a:r>
            <a:r>
              <a:rPr lang="en-US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需求审查布置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9" name="" descr="&lt;Slide padding={0}&gt;&#10;    &lt;Box style={{ width: '100%', height: '100%', position: 'relative', background: '#FFFFFF' }}&gt;&#10;        &lt;Box style={{ height: 72, width: '100%', background: '#0E3F8C', flexDirection: 'row', alignItems: 'center', justifyContent: 'space-between', padding: '0 60px' }}&gt;&#10;            &lt;Text style={{ fontSize: 18, color: '#E8EFF8', letterSpacing: 3 }}&gt;需求审查 · 检查清单&lt;/Text&gt;&#10;            &lt;Text style={{ fontSize: 18, color: '#E8EFF8', letterSpacing: 2 }}&gt;06 / 08&lt;/Text&gt;&#10;        &lt;/Box&gt;&#10;&#10;        &lt;Box style={{ position: 'absolute', top: 92, left: 60, right: 60, bottom: 50, flexDirection: 'column' }}&gt;&#10;            &lt;Text style={{ fontSize: 18, color: '#1E4FA8', letterSpacing: 3, fontWeight: 'bold' }}&gt;CHECKLIST · 八项硬性检查&lt;/Text&gt;&#10;            &lt;Text style={{ fontSize: 33, color: '#0E3F8C', fontWeight: 'bold', marginTop: 8 }}&gt;缺一项即&quot;修改后通过&quot;&lt;/Text&gt;&#10;            &lt;Box style={{ width: 64, height: 3, background: '#1E4FA8', marginTop: 12 }} /&gt;&#10;&#10;            &lt;Box style={{ flexDirection: 'column', gap: 14, marginTop: 22 }}&gt;&#10;                &lt;Box style={{ flexDirection: 'row', gap: 14 }}&gt;&#10;                    &lt;Box style={{ flex: 1, background: '#F7F9FC', border: '1px solid #D6DCE5', borderRadius: 6, padding: 16, flexDirection: 'row', gap: 12 }}&gt;&#10;                        &lt;Box style={{ width: 38, height: 38, background: '#0E3F8C', borderRadius: 4, alignItems: 'center', justifyContent: 'center' }}&gt;&#10;                            &lt;Text style={{ fontSize: 18, color: '#FFFFFF', fontWeight: 'bold' }}&gt;1&lt;/Text&gt;&#10;                        &lt;/Box&gt;&#10;                        &lt;Box style={{ flex: 1, justifyContent: 'center' }}&gt;&#10;                            &lt;Text style={{ fontSize: 19, color: '#0E3F8C', fontWeight: 'bold' }}&gt;边界&lt;/Text&gt;&#10;                            &lt;Text style={{ fontSize: 17, color: '#4A5568', marginTop: 3, lineHeight: 1.3 }}&gt;有明确的不做清单&lt;/Text&gt;&#10;                        &lt;/Box&gt;&#10;                    &lt;/Box&gt;&#10;                    &lt;Box style={{ flex: 1, background: '#F7F9FC', border: '1px solid #D6DCE5', borderRadius: 6, padding: 16, flexDirection: 'row', gap: 12 }}&gt;&#10;                        &lt;Box style={{ width: 38, height: 38, background: '#0E3F8C', borderRadius: 4, alignItems: 'center', justifyContent: 'center' }}&gt;&#10;                            &lt;Text style={{ fontSize: 18, color: '#FFFFFF', fontWeight: 'bold' }}&gt;2&lt;/Text&gt;&#10;                        &lt;/Box&gt;&#10;                        &lt;Box style={{ flex: 1, justifyContent: 'center' }}&gt;&#10;                            &lt;Text style={{ fontSize: 19, color: '#0E3F8C', fontWeight: 'bold' }}&gt;可验收&lt;/Text&gt;&#10;                            &lt;Text style={{ fontSize: 17, color: '#4A5568', marginTop: 3, lineHeight: 1.3 }}&gt;每条功能都有数字&lt;/Text&gt;&#10;                        &lt;/Box&gt;&#10;                    &lt;/Box&gt;&#10;                    &lt;Box style={{ flex: 1, background: '#F7F9FC', border: '1px solid #D6DCE5', borderRadius: 6, padding: 16, flexDirection: 'row', gap: 12 }}&gt;&#10;                        &lt;Box style={{ width: 38, height: 38, background: '#0E3F8C', borderRadius: 4, alignItems: 'center', justifyContent: 'center' }}&gt;&#10;                            &lt;Text style={{ fontSize: 18, color: '#FFFFFF', fontWeight: 'bold' }}&gt;3&lt;/Text&gt;&#10;                        &lt;/Box&gt;&#10;                        &lt;Box style={{ flex: 1, justifyContent: 'center' }}&gt;&#10;                            &lt;Text style={{ fontSize: 19, color: '#0E3F8C', fontWeight: 'bold' }}&gt;接口&lt;/Text&gt;&#10;                            &lt;Text style={{ fontSize: 17, color: '#4A5568', marginTop: 3, lineHeight: 1.3 }}&gt;三人数据契约已写明&lt;/Text&gt;&#10;                        &lt;/Box&gt;&#10;                    &lt;/Box&gt;&#10;                    &lt;Box style={{ flex: 1, background: '#F7F9FC', border: '1px solid #D6DCE5', borderRadius: 6, padding: 16, flexDirection: 'row', gap: 12 }}&gt;&#10;                        &lt;Box style={{ width: 38, height: 38, background: '#0E3F8C', borderRadius: 4, alignItems: 'center', justifyContent: 'center' }}&gt;&#10;                            &lt;Text style={{ fontSize: 18, color: '#FFFFFF', fontWeight: 'bold' }}&gt;4&lt;/Text&gt;&#10;                        &lt;/Box&gt;&#10;                        &lt;Box style={{ flex: 1, justifyContent: 'center' }}&gt;&#10;                            &lt;Text style={{ fontSize: 19, color: '#0E3F8C', fontWeight: 'bold' }}&gt;数据&lt;/Text&gt;&#10;                            &lt;Text style={{ fontSize: 17, color: '#4A5568', marginTop: 3, lineHeight: 1.3 }}&gt;四类样本来源说得清&lt;/Text&gt;&#10;                        &lt;/Box&gt;&#10;                    &lt;/Box&gt;&#10;                &lt;/Box&gt;&#10;&#10;                &lt;Box style={{ flexDirection: 'row', gap: 14 }}&gt;&#10;                    &lt;Box style={{ flex: 1, background: '#F7F9FC', border: '1px solid #D6DCE5', borderRadius: 6, padding: 16, flexDirection: 'row', gap: 12 }}&gt;&#10;                        &lt;Box style={{ width: 38, height: 38, background: '#0E3F8C', borderRadius: 4, alignItems: 'center', justifyContent: 'center' }}&gt;&#10;                            &lt;Text style={{ fontSize: 18, color: '#FFFFFF', fontWeight: 'bold' }}&gt;5&lt;/Text&gt;&#10;                        &lt;/Box&gt;&#10;                        &lt;Box style={{ flex: 1, justifyContent: 'center' }}&gt;&#10;                            &lt;Text style={{ fontSize: 19, color: '#0E3F8C', fontWeight: 'bold' }}&gt;硬件&lt;/Text&gt;&#10;                            &lt;Text style={{ fontSize: 17, color: '#4A5568', marginTop: 3, lineHeight: 1.3 }}&gt;动作在机械臂能力内&lt;/Text&gt;&#10;                        &lt;/Box&gt;&#10;                    &lt;/Box&gt;&#10;                    &lt;Box style={{ flex: 1, background: '#F7F9FC', border: '1px solid #D6DCE5', borderRadius: 6, padding: 16, flexDirection: 'row', gap: 12 }}&gt;&#10;                        &lt;Box style={{ width: 38, height: 38, background: '#0E3F8C', borderRadius: 4, alignItems: 'center', justifyContent: 'center' }}&gt;&#10;                            &lt;Text style={{ fontSize: 18, color: '#FFFFFF', fontWeight: 'bold' }}&gt;6&lt;/Text&gt;&#10;                        &lt;/Box&gt;&#10;                        &lt;Box style={{ flex: 1, justifyContent: 'center' }}&gt;&#10;                            &lt;Text style={{ fontSize: 19, color: '#0E3F8C', fontWeight: 'bold' }}&gt;兜底&lt;/Text&gt;&#10;                            &lt;Text style={{ fontSize: 17, color: '#4A5568', marginTop: 3, lineHeight: 1.3 }}&gt;失败路径写了三条&lt;/Text&gt;&#10;                        &lt;/Box&gt;&#10;                    &lt;/Box&gt;&#10;                    &lt;Box style={{ flex: 1, background: '#F7F9FC', border: '1px solid #D6DCE5', borderRadius: 6, padding: 16, flexDirection: 'row', gap: 12 }}&gt;&#10;                        &lt;Box style={{ width: 38, height: 38, background: '#0E3F8C', borderRadius: 4, alignItems: 'center', justifyContent: 'center' }}&gt;&#10;                            &lt;Text style={{ fontSize: 18, color: '#FFFFFF', fontWeight: 'bold' }}&gt;7&lt;/Text&gt;&#10;                        &lt;/Box&gt;&#10;                        &lt;Box style={{ flex: 1, justifyContent: 'center' }}&gt;&#10;                            &lt;Text style={{ fontSize: 19, color: '#0E3F8C', fontWeight: 'bold' }}&gt;排期&lt;/Text&gt;&#10;                            &lt;Text style={{ fontSize: 17, color: '#4A5568', marginTop: 3, lineHeight: 1.3 }}&gt;从答辩日倒排回来&lt;/Text&gt;&#10;                        &lt;/Box&gt;&#10;                    &lt;/Box&gt;&#10;                    &lt;Box style={{ flex: 1, background: '#F7F9FC', border: '1px solid #D6DCE5', borderRadius: 6, padding: 16, flexDirection: 'row', gap: 12 }}&gt;&#10;                        &lt;Box style={{ width: 38, height: 38, background: '#0E3F8C', borderRadius: 4, alignItems: 'center', justifyContent: 'center' }}&gt;&#10;                            &lt;Text style={{ fontSize: 18, color: '#FFFFFF', fontWeight: 'bold' }}&gt;8&lt;/Text&gt;&#10;                        &lt;/Box&gt;&#10;                        &lt;Box style={{ flex: 1, justifyContent: 'center' }}&gt;&#10;                            &lt;Text style={{ fontSize: 19, color: '#0E3F8C', fontWeight: 'bold' }}&gt;责任&lt;/Text&gt;&#10;                            &lt;Text style={{ fontSize: 17, color: '#4A5568', marginTop: 3, lineHeight: 1.3 }}&gt;每人交付物可点验&lt;/Text&gt;&#10;                        &lt;/Box&gt;&#10;                    &lt;/Box&gt;&#10;                &lt;/Box&gt;&#10;            &lt;/Box&gt;&#10;&#10;            &lt;Box style={{ marginTop: 22, padding: '14px 16px', background: '#FAEEDA', borderLeft: '4px solid #BA7517', borderRadius: 4 }}&gt;&#10;                &lt;Text style={{ fontSize: 17, color: '#633806', fontWeight: 'bold' }}&gt;老师会问的三个为什么：&lt;/Text&gt;&#10;                &lt;Text style={{ fontSize: 17, color: '#854F0B', marginLeft: 8, lineHeight: 1.4 }}&gt;排期里最危险的是哪一周？兜底方案本身失败了怎么办？只能保留一个功能你留哪个？&lt;/Text&gt;&#10;            &lt;/Box&gt;&#10;        &lt;/Box&gt;&#10;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7, color: '#8B97A8' }}&gt;软件开发与测试综合实践 · 需求审查布置&lt;/Text&gt;&#10;            &lt;Text style={{ fontSize: 17, color: '#1E4FA8', fontWeight: 'bold' }}&gt;06 / 0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矩形 199"/>
          <p:cNvSpPr/>
          <p:nvPr/>
        </p:nvSpPr>
        <p:spPr>
          <a:xfrm>
            <a:off x="0" y="1016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01" name="矩形 20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571500" y="238125"/>
            <a:ext cx="1828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需求审查</a:t>
            </a:r>
            <a:r>
              <a:rPr lang="en-US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检查清单</a:t>
            </a:r>
            <a:endParaRPr lang="zh-CN" sz="13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571500" y="876300"/>
            <a:ext cx="1104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CHECKLIST · </a:t>
            </a:r>
            <a:r>
              <a:rPr lang="zh-CN" sz="13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八项硬性检查</a:t>
            </a:r>
            <a:endParaRPr lang="zh-CN" sz="1350" b="1" spc="2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矩形 205"/>
          <p:cNvSpPr/>
          <p:nvPr/>
        </p:nvSpPr>
        <p:spPr>
          <a:xfrm>
            <a:off x="571500" y="1657350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07" name="圆角矩形 206"/>
          <p:cNvSpPr/>
          <p:nvPr/>
        </p:nvSpPr>
        <p:spPr>
          <a:xfrm>
            <a:off x="571500" y="1895475"/>
            <a:ext cx="2667000" cy="809625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8" name="圆角矩形 207"/>
          <p:cNvSpPr/>
          <p:nvPr/>
        </p:nvSpPr>
        <p:spPr>
          <a:xfrm>
            <a:off x="723900" y="2047875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847725" y="2124075"/>
            <a:ext cx="114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1200150" y="2047875"/>
            <a:ext cx="1885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边界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1200150" y="2295525"/>
            <a:ext cx="1885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有明确的不做清单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圆角矩形 211"/>
          <p:cNvSpPr/>
          <p:nvPr/>
        </p:nvSpPr>
        <p:spPr>
          <a:xfrm>
            <a:off x="3371850" y="1895475"/>
            <a:ext cx="2657475" cy="809625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3" name="圆角矩形 212"/>
          <p:cNvSpPr/>
          <p:nvPr/>
        </p:nvSpPr>
        <p:spPr>
          <a:xfrm>
            <a:off x="3524250" y="2047875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3648075" y="2124075"/>
            <a:ext cx="114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4000500" y="2047875"/>
            <a:ext cx="18764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可验收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4000500" y="2295525"/>
            <a:ext cx="18764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每条功能都有数字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圆角矩形 216"/>
          <p:cNvSpPr/>
          <p:nvPr/>
        </p:nvSpPr>
        <p:spPr>
          <a:xfrm>
            <a:off x="6162675" y="1895475"/>
            <a:ext cx="2667000" cy="809625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8" name="圆角矩形 217"/>
          <p:cNvSpPr/>
          <p:nvPr/>
        </p:nvSpPr>
        <p:spPr>
          <a:xfrm>
            <a:off x="6315075" y="2047875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6438900" y="2124075"/>
            <a:ext cx="114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6791325" y="2047875"/>
            <a:ext cx="1885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6791325" y="2295525"/>
            <a:ext cx="1885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三人数据契约已写明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圆角矩形 221"/>
          <p:cNvSpPr/>
          <p:nvPr/>
        </p:nvSpPr>
        <p:spPr>
          <a:xfrm>
            <a:off x="8963025" y="1895475"/>
            <a:ext cx="2657475" cy="809625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3" name="圆角矩形 222"/>
          <p:cNvSpPr/>
          <p:nvPr/>
        </p:nvSpPr>
        <p:spPr>
          <a:xfrm>
            <a:off x="9115425" y="2047875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9239250" y="2124075"/>
            <a:ext cx="114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9591675" y="2047875"/>
            <a:ext cx="18764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9591675" y="2295525"/>
            <a:ext cx="18764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样本来源说得清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571500" y="2838450"/>
            <a:ext cx="2667000" cy="809625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8" name="圆角矩形 227"/>
          <p:cNvSpPr/>
          <p:nvPr/>
        </p:nvSpPr>
        <p:spPr>
          <a:xfrm>
            <a:off x="723900" y="2990850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47725" y="3067050"/>
            <a:ext cx="114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1200150" y="2990850"/>
            <a:ext cx="1885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硬件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1200150" y="3238500"/>
            <a:ext cx="1885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动作在机械臂能力内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圆角矩形 231"/>
          <p:cNvSpPr/>
          <p:nvPr/>
        </p:nvSpPr>
        <p:spPr>
          <a:xfrm>
            <a:off x="3371850" y="2838450"/>
            <a:ext cx="2657475" cy="809625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3" name="圆角矩形 232"/>
          <p:cNvSpPr/>
          <p:nvPr/>
        </p:nvSpPr>
        <p:spPr>
          <a:xfrm>
            <a:off x="3524250" y="2990850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3648075" y="3067050"/>
            <a:ext cx="114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4000500" y="2990850"/>
            <a:ext cx="18764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兜底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4000500" y="3238500"/>
            <a:ext cx="18764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失败路径写了三条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圆角矩形 236"/>
          <p:cNvSpPr/>
          <p:nvPr/>
        </p:nvSpPr>
        <p:spPr>
          <a:xfrm>
            <a:off x="6162675" y="2838450"/>
            <a:ext cx="2667000" cy="809625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8" name="圆角矩形 237"/>
          <p:cNvSpPr/>
          <p:nvPr/>
        </p:nvSpPr>
        <p:spPr>
          <a:xfrm>
            <a:off x="6315075" y="2990850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6438900" y="3067050"/>
            <a:ext cx="114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6791325" y="2990850"/>
            <a:ext cx="1885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排期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6791325" y="3238500"/>
            <a:ext cx="1885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从答辩日倒排回来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8963025" y="2838450"/>
            <a:ext cx="2657475" cy="809625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3" name="圆角矩形 242"/>
          <p:cNvSpPr/>
          <p:nvPr/>
        </p:nvSpPr>
        <p:spPr>
          <a:xfrm>
            <a:off x="9115425" y="2990850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9239250" y="3067050"/>
            <a:ext cx="114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9591675" y="2990850"/>
            <a:ext cx="18764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责任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591675" y="3238500"/>
            <a:ext cx="18764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每人交付物可点验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52" name="任意多边形 251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571500" y="6572250"/>
            <a:ext cx="2895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软件开发与测试综合实践</a:t>
            </a:r>
            <a:r>
              <a:rPr lang="en-US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需求审查布置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571500" y="1235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alt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1-2</a:t>
            </a:r>
            <a:r>
              <a:rPr lang="zh-CN" alt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r>
              <a:rPr lang="en-US" alt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A4</a:t>
            </a:r>
            <a:r>
              <a:rPr lang="zh-CN" alt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纸</a:t>
            </a:r>
            <a:r>
              <a:rPr lang="zh-CN" alt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讲清楚</a:t>
            </a:r>
            <a:endParaRPr lang="zh-CN" altLang="en-US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 descr="&lt;Slide padding={0}&gt;&#10;    &lt;Box style={{ width: '100%', height: '100%', position: 'relative', background: '#FFFFFF' }}&gt;&#10;        &lt;Box style={{ height: 72, width: '100%', background: '#0E3F8C', flexDirection: 'row', alignItems: 'center', justifyContent: 'space-between', padding: '0 60px' }}&gt;&#10;            &lt;Text style={{ fontSize: 18, color: '#E8EFF8', letterSpacing: 3 }}&gt;需求审查 · 写法对照&lt;/Text&gt;&#10;            &lt;Text style={{ fontSize: 18, color: '#E8EFF8', letterSpacing: 2 }}&gt;05 / 08&lt;/Text&gt;&#10;        &lt;/Box&gt;&#10;&#10;        &lt;Box style={{ position: 'absolute', top: 92, left: 60, right: 60, bottom: 50, flexDirection: 'column' }}&gt;&#10;            &lt;Text style={{ fontSize: 18, color: '#1E4FA8', letterSpacing: 3, fontWeight: 'bold' }}&gt;GOOD vs BAD · 怎么写才算合格&lt;/Text&gt;&#10;            &lt;Text style={{ fontSize: 31, color: '#0E3F8C', fontWeight: 'bold', marginTop: 8 }}&gt;左边会被打回，右边才通过&lt;/Text&gt;&#10;            &lt;Box style={{ width: 64, height: 3, background: '#1E4FA8', marginTop: 12 }} /&gt;&#10;&#10;            &lt;Box style={{ marginTop: 18, border: '1px solid #D6DCE5', borderRadius: 6, overflow: 'hidden' }}&gt;&#10;                &lt;Box style={{ flexDirection: 'row', padding: '9px 14px', background: '#F1EFE8' }}&gt;&#10;                    &lt;Text style={{ fontSize: 17, color: '#5F5E5A', fontWeight: 'bold', width: 76 }}&gt;场景&lt;/Text&gt;&#10;                    &lt;Text style={{ fontSize: 17, color: '#A32D2D', fontWeight: 'bold', flex: 1 }}&gt;不合格写法&lt;/Text&gt;&#10;                    &lt;Text style={{ fontSize: 17, color: '#27500A', fontWeight: 'bold', flex: 1.25 }}&gt;合格写法&lt;/Text&gt;&#10;                &lt;/Box&gt;&#10;&#10;                &lt;Box style={{ flexDirection: 'row', padding: '9px 14px', borderTop: '1px solid #D6DCE5' }}&gt;&#10;                    &lt;Text style={{ fontSize: 17, color: '#0E3F8C', fontWeight: 'bold', width: 76 }}&gt;识别&lt;/Text&gt;&#10;                    &lt;Text style={{ fontSize: 17, color: '#791F1F', flex: 1, lineHeight: 1.3 }}&gt;识别准确率高&lt;/Text&gt;&#10;                    &lt;Text style={{ fontSize: 17, color: '#1A2230', flex: 1.25, lineHeight: 1.3 }}&gt;四类 mAP@0.5 ≥ 0.75，单帧 ≤ 150ms&lt;/Text&gt;&#10;                &lt;/Box&gt;&#10;&#10;                &lt;Box style={{ flexDirection: 'row', padding: '9px 14px', borderTop: '1px solid #D6DCE5', background: '#FBFBFA' }}&gt;&#10;                    &lt;Text style={{ fontSize: 17, color: '#0E3F8C', fontWeight: 'bold', width: 76 }}&gt;抓取&lt;/Text&gt;&#10;                    &lt;Text style={{ fontSize: 17, color: '#791F1F', flex: 1, lineHeight: 1.3 }}&gt;机械臂能抓起来&lt;/Text&gt;&#10;                    &lt;Text style={{ fontSize: 17, color: '#1A2230', flex: 1.25, lineHeight: 1.3 }}&gt;工作区内任意位置，连续 10 次成功 ≥ 8 次&lt;/Text&gt;&#10;                &lt;/Box&gt;&#10;&#10;                &lt;Box style={{ flexDirection: 'row', padding: '9px 14px', borderTop: '1px solid #D6DCE5' }}&gt;&#10;                    &lt;Text style={{ fontSize: 17, color: '#0E3F8C', fontWeight: 'bold', width: 76 }}&gt;看板&lt;/Text&gt;&#10;                    &lt;Text style={{ fontSize: 17, color: '#791F1F', flex: 1, lineHeight: 1.3 }}&gt;做一个 Web 管理页面&lt;/Text&gt;&#10;                    &lt;Text style={{ fontSize: 17, color: '#1A2230', flex: 1.25, lineHeight: 1.3 }}&gt;4 个页面，事件从写入到展示 ≤ 1s&lt;/Text&gt;&#10;                &lt;/Box&gt;&#10;&#10;                &lt;Box style={{ flexDirection: 'row', padding: '9px 14px', borderTop: '1px solid #D6DCE5', background: '#FBFBFA' }}&gt;&#10;                    &lt;Text style={{ fontSize: 17, color: '#0E3F8C', fontWeight: 'bold', width: 76 }}&gt;兜底&lt;/Text&gt;&#10;                    &lt;Text style={{ fontSize: 17, color: '#791F1F', flex: 1, lineHeight: 1.3 }}&gt;识别失败会重试&lt;/Text&gt;&#10;                    &lt;Text style={{ fontSize: 17, color: '#1A2230', flex: 1.25, lineHeight: 1.3 }}&gt;置信度低于 0.5 转颜色追踪，仍失败则跳过并记日志&lt;/Text&gt;&#10;                &lt;/Box&gt;&#10;&#10;                &lt;Box style={{ flexDirection: 'row', padding: '9px 14px', borderTop: '1px solid #D6DCE5' }}&gt;&#10;                    &lt;Text style={{ fontSize: 17, color: '#0E3F8C', fontWeight: 'bold', width: 76 }}&gt;分工&lt;/Text&gt;&#10;                    &lt;Text style={{ fontSize: 17, color: '#791F1F', flex: 1, lineHeight: 1.3 }}&gt;张三做视觉，李四做控制&lt;/Text&gt;&#10;                    &lt;Text style={{ fontSize: 17, color: '#1A2230', flex: 1.25, lineHeight: 1.3 }}&gt;张三交付标注数据集与模型，接口 detect 返回类别与坐标&lt;/Text&gt;&#10;                &lt;/Box&gt;&#10;            &lt;/Box&gt;&#10;&#10;            &lt;Box style={{ marginTop: 18, padding: '13px 16px', background: '#0E3F8C', borderRadius: 6 }}&gt;&#10;                &lt;Text style={{ fontSize: 18, color: '#FFFFFF', fontWeight: 'bold' }}&gt;判据只有一句：&lt;/Text&gt;&#10;                &lt;Text style={{ fontSize: 18, color: '#E8EFF8', marginLeft: 8 }}&gt;一个不了解项目的人读完，如果判断不了&quot;做没做到&quot;，就是不合格需求。&lt;/Text&gt;&#10;            &lt;/Box&gt;&#10;        &lt;/Box&gt;&#10;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7, color: '#8B97A8' }}&gt;软件开发与测试综合实践 · 需求审查布置&lt;/Text&gt;&#10;            &lt;Text style={{ fontSize: 17, color: '#1E4FA8', fontWeight: 'bold' }}&gt;05 / 0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矩形 158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71500" y="238125"/>
            <a:ext cx="1828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需求审查</a:t>
            </a:r>
            <a:r>
              <a:rPr lang="en-US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sz="13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96" name="任意多边形 195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571500" y="6572250"/>
            <a:ext cx="2895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软件开发与测试综合实践</a:t>
            </a:r>
            <a:r>
              <a:rPr lang="en-US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需求审查布置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571500" y="96710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其他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1207" y="2074604"/>
            <a:ext cx="8655343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机械臂可</a:t>
            </a:r>
            <a:r>
              <a:rPr lang="zh-CN" altLang="en-US" sz="20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借用</a:t>
            </a:r>
            <a:endParaRPr lang="zh-CN" altLang="en-US" sz="200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后续报告提交时需注明</a:t>
            </a:r>
            <a:r>
              <a:rPr lang="zh-CN" altLang="en-US" sz="20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组内每人</a:t>
            </a:r>
            <a:r>
              <a:rPr lang="zh-CN" altLang="en-US" sz="20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贡献占比</a:t>
            </a:r>
            <a:endParaRPr lang="zh-CN" altLang="en-US" sz="200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i="0" dirty="0">
                <a:effectLst/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建立项目</a:t>
            </a:r>
            <a:r>
              <a:rPr lang="en-US" altLang="zh-CN" sz="2000" i="0" dirty="0">
                <a:effectLst/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git</a:t>
            </a:r>
            <a:r>
              <a:rPr lang="zh-CN" altLang="en-US" sz="2000" i="0" dirty="0">
                <a:effectLst/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仓库</a:t>
            </a:r>
            <a:endParaRPr lang="zh-CN" altLang="en-US" sz="2000" i="0" dirty="0">
              <a:effectLst/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2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3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4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5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6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7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8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9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10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11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12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13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14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15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16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17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18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19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ags/tag20.xml><?xml version="1.0" encoding="utf-8"?>
<p:tagLst xmlns:p="http://schemas.openxmlformats.org/presentationml/2006/main">
  <p:tag name="KSO_WM_DIAGRAM_VIRTUALLY_FRAME" val="{&quot;height&quot;:297.75,&quot;left&quot;:43.4,&quot;top&quot;:162.35,&quot;width&quot;:85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</Words>
  <Application>WPS 演示</Application>
  <PresentationFormat/>
  <Paragraphs>182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happysykl</cp:lastModifiedBy>
  <cp:revision>5</cp:revision>
  <dcterms:created xsi:type="dcterms:W3CDTF">2026-09-19T02:42:55Z</dcterms:created>
  <dcterms:modified xsi:type="dcterms:W3CDTF">2026-09-19T03:48:10Z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D535128BAC764C04BF73492250BDF239_12</vt:lpwstr>
  </property>
</Properties>
</file>